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65" r:id="rId5"/>
    <p:sldId id="279" r:id="rId6"/>
    <p:sldId id="274" r:id="rId7"/>
    <p:sldId id="269" r:id="rId8"/>
    <p:sldId id="270" r:id="rId9"/>
    <p:sldId id="271" r:id="rId10"/>
    <p:sldId id="275" r:id="rId11"/>
    <p:sldId id="272" r:id="rId12"/>
    <p:sldId id="278" r:id="rId13"/>
    <p:sldId id="273" r:id="rId14"/>
    <p:sldId id="276" r:id="rId15"/>
    <p:sldId id="285" r:id="rId16"/>
    <p:sldId id="277" r:id="rId17"/>
    <p:sldId id="280" r:id="rId18"/>
    <p:sldId id="281" r:id="rId19"/>
    <p:sldId id="282" r:id="rId20"/>
    <p:sldId id="283" r:id="rId21"/>
    <p:sldId id="284" r:id="rId22"/>
    <p:sldId id="287" r:id="rId23"/>
    <p:sldId id="288" r:id="rId24"/>
    <p:sldId id="289" r:id="rId25"/>
    <p:sldId id="290" r:id="rId26"/>
    <p:sldId id="291" r:id="rId27"/>
    <p:sldId id="292" r:id="rId28"/>
    <p:sldId id="293" r:id="rId29"/>
    <p:sldId id="294" r:id="rId30"/>
    <p:sldId id="26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0AEE62-B726-4320-8945-B35089A7AEA1}">
          <p14:sldIdLst>
            <p14:sldId id="256"/>
            <p14:sldId id="257"/>
            <p14:sldId id="258"/>
            <p14:sldId id="265"/>
            <p14:sldId id="279"/>
            <p14:sldId id="274"/>
            <p14:sldId id="269"/>
            <p14:sldId id="270"/>
            <p14:sldId id="271"/>
            <p14:sldId id="275"/>
            <p14:sldId id="272"/>
            <p14:sldId id="278"/>
            <p14:sldId id="273"/>
            <p14:sldId id="276"/>
            <p14:sldId id="285"/>
            <p14:sldId id="277"/>
            <p14:sldId id="280"/>
            <p14:sldId id="281"/>
            <p14:sldId id="282"/>
            <p14:sldId id="283"/>
            <p14:sldId id="284"/>
            <p14:sldId id="287"/>
            <p14:sldId id="288"/>
            <p14:sldId id="289"/>
            <p14:sldId id="290"/>
            <p14:sldId id="291"/>
            <p14:sldId id="292"/>
            <p14:sldId id="293"/>
            <p14:sldId id="294"/>
            <p14:sldId id="26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82" d="100"/>
          <a:sy n="82" d="100"/>
        </p:scale>
        <p:origin x="797"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2"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3"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5"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6"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7"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155874660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09"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10"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11" name="Date Placeholder 3"/>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12" name="Footer Placeholder 4"/>
          <p:cNvSpPr>
            <a:spLocks noGrp="1"/>
          </p:cNvSpPr>
          <p:nvPr>
            <p:ph type="ftr" sz="quarter" idx="11"/>
          </p:nvPr>
        </p:nvSpPr>
        <p:spPr/>
        <p:txBody>
          <a:bodyPr/>
          <a:lstStyle/>
          <a:p>
            <a:endParaRPr lang="en-IN"/>
          </a:p>
        </p:txBody>
      </p:sp>
      <p:sp>
        <p:nvSpPr>
          <p:cNvPr id="104861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IN"/>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3" name="Date Placeholder 3"/>
          <p:cNvSpPr>
            <a:spLocks noGrp="1"/>
          </p:cNvSpPr>
          <p:nvPr>
            <p:ph type="dt" sz="half" idx="10"/>
          </p:nvPr>
        </p:nvSpPr>
        <p:spPr/>
        <p:txBody>
          <a:bodyPr/>
          <a:lstStyle/>
          <a:p>
            <a:fld id="{4A27E7D1-18E9-4FCA-A891-5E948E9F1D17}" type="datetimeFigureOut">
              <a:rPr lang="en-IN" smtClean="0"/>
              <a:t>27-10-2024</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4"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35"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36" name="Date Placeholder 3"/>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37" name="Footer Placeholder 4"/>
          <p:cNvSpPr>
            <a:spLocks noGrp="1"/>
          </p:cNvSpPr>
          <p:nvPr>
            <p:ph type="ftr" sz="quarter" idx="11"/>
          </p:nvPr>
        </p:nvSpPr>
        <p:spPr/>
        <p:txBody>
          <a:bodyPr/>
          <a:lstStyle/>
          <a:p>
            <a:endParaRPr lang="en-IN"/>
          </a:p>
        </p:txBody>
      </p:sp>
      <p:sp>
        <p:nvSpPr>
          <p:cNvPr id="1048638"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US"/>
              <a:t>Click to edit Master title style</a:t>
            </a:r>
            <a:endParaRPr lang="en-IN"/>
          </a:p>
        </p:txBody>
      </p:sp>
      <p:sp>
        <p:nvSpPr>
          <p:cNvPr id="1048640"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1"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2" name="Date Placeholder 4"/>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43" name="Footer Placeholder 5"/>
          <p:cNvSpPr>
            <a:spLocks noGrp="1"/>
          </p:cNvSpPr>
          <p:nvPr>
            <p:ph type="ftr" sz="quarter" idx="11"/>
          </p:nvPr>
        </p:nvSpPr>
        <p:spPr/>
        <p:txBody>
          <a:bodyPr/>
          <a:lstStyle/>
          <a:p>
            <a:endParaRPr lang="en-IN"/>
          </a:p>
        </p:txBody>
      </p:sp>
      <p:sp>
        <p:nvSpPr>
          <p:cNvPr id="1048644"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5"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46"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7"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8"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9"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0" name="Date Placeholder 6"/>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51" name="Footer Placeholder 7"/>
          <p:cNvSpPr>
            <a:spLocks noGrp="1"/>
          </p:cNvSpPr>
          <p:nvPr>
            <p:ph type="ftr" sz="quarter" idx="11"/>
          </p:nvPr>
        </p:nvSpPr>
        <p:spPr/>
        <p:txBody>
          <a:bodyPr/>
          <a:lstStyle/>
          <a:p>
            <a:endParaRPr lang="en-IN"/>
          </a:p>
        </p:txBody>
      </p:sp>
      <p:sp>
        <p:nvSpPr>
          <p:cNvPr id="1048652" name="Slide Number Placeholder 8"/>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a:t>Click to edit Master title style</a:t>
            </a:r>
            <a:endParaRPr lang="en-IN"/>
          </a:p>
        </p:txBody>
      </p:sp>
      <p:sp>
        <p:nvSpPr>
          <p:cNvPr id="1048615" name="Date Placeholder 2"/>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16" name="Footer Placeholder 3"/>
          <p:cNvSpPr>
            <a:spLocks noGrp="1"/>
          </p:cNvSpPr>
          <p:nvPr>
            <p:ph type="ftr" sz="quarter" idx="11"/>
          </p:nvPr>
        </p:nvSpPr>
        <p:spPr/>
        <p:txBody>
          <a:bodyPr/>
          <a:lstStyle/>
          <a:p>
            <a:endParaRPr lang="en-IN"/>
          </a:p>
        </p:txBody>
      </p:sp>
      <p:sp>
        <p:nvSpPr>
          <p:cNvPr id="1048617" name="Slide Number Placeholder 4"/>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3" name="Date Placeholder 1"/>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54" name="Footer Placeholder 2"/>
          <p:cNvSpPr>
            <a:spLocks noGrp="1"/>
          </p:cNvSpPr>
          <p:nvPr>
            <p:ph type="ftr" sz="quarter" idx="11"/>
          </p:nvPr>
        </p:nvSpPr>
        <p:spPr/>
        <p:txBody>
          <a:bodyPr/>
          <a:lstStyle/>
          <a:p>
            <a:endParaRPr lang="en-IN"/>
          </a:p>
        </p:txBody>
      </p:sp>
      <p:sp>
        <p:nvSpPr>
          <p:cNvPr id="1048655" name="Slide Number Placeholder 3"/>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57"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9" name="Date Placeholder 4"/>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60" name="Footer Placeholder 5"/>
          <p:cNvSpPr>
            <a:spLocks noGrp="1"/>
          </p:cNvSpPr>
          <p:nvPr>
            <p:ph type="ftr" sz="quarter" idx="11"/>
          </p:nvPr>
        </p:nvSpPr>
        <p:spPr/>
        <p:txBody>
          <a:bodyPr/>
          <a:lstStyle/>
          <a:p>
            <a:endParaRPr lang="en-IN"/>
          </a:p>
        </p:txBody>
      </p:sp>
      <p:sp>
        <p:nvSpPr>
          <p:cNvPr id="1048661"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24"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2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26" name="Date Placeholder 4"/>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27" name="Footer Placeholder 5"/>
          <p:cNvSpPr>
            <a:spLocks noGrp="1"/>
          </p:cNvSpPr>
          <p:nvPr>
            <p:ph type="ftr" sz="quarter" idx="11"/>
          </p:nvPr>
        </p:nvSpPr>
        <p:spPr/>
        <p:txBody>
          <a:bodyPr/>
          <a:lstStyle/>
          <a:p>
            <a:endParaRPr lang="en-IN"/>
          </a:p>
        </p:txBody>
      </p:sp>
      <p:sp>
        <p:nvSpPr>
          <p:cNvPr id="1048628"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r>
              <a:rPr lang="en-US"/>
              <a:t>Click to edit Master title style</a:t>
            </a:r>
            <a:endParaRPr lang="en-IN"/>
          </a:p>
        </p:txBody>
      </p:sp>
      <p:sp>
        <p:nvSpPr>
          <p:cNvPr id="104863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1" name="Date Placeholder 3"/>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32" name="Footer Placeholder 4"/>
          <p:cNvSpPr>
            <a:spLocks noGrp="1"/>
          </p:cNvSpPr>
          <p:nvPr>
            <p:ph type="ftr" sz="quarter" idx="11"/>
          </p:nvPr>
        </p:nvSpPr>
        <p:spPr/>
        <p:txBody>
          <a:bodyPr/>
          <a:lstStyle/>
          <a:p>
            <a:endParaRPr lang="en-IN"/>
          </a:p>
        </p:txBody>
      </p:sp>
      <p:sp>
        <p:nvSpPr>
          <p:cNvPr id="104863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8"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19"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0" name="Date Placeholder 3"/>
          <p:cNvSpPr>
            <a:spLocks noGrp="1"/>
          </p:cNvSpPr>
          <p:nvPr>
            <p:ph type="dt" sz="half" idx="10"/>
          </p:nvPr>
        </p:nvSpPr>
        <p:spPr/>
        <p:txBody>
          <a:bodyPr/>
          <a:lstStyle/>
          <a:p>
            <a:fld id="{4A27E7D1-18E9-4FCA-A891-5E948E9F1D17}" type="datetimeFigureOut">
              <a:rPr lang="en-IN" smtClean="0"/>
              <a:t>27-10-2024</a:t>
            </a:fld>
            <a:endParaRPr lang="en-IN"/>
          </a:p>
        </p:txBody>
      </p:sp>
      <p:sp>
        <p:nvSpPr>
          <p:cNvPr id="1048621" name="Footer Placeholder 4"/>
          <p:cNvSpPr>
            <a:spLocks noGrp="1"/>
          </p:cNvSpPr>
          <p:nvPr>
            <p:ph type="ftr" sz="quarter" idx="11"/>
          </p:nvPr>
        </p:nvSpPr>
        <p:spPr/>
        <p:txBody>
          <a:bodyPr/>
          <a:lstStyle/>
          <a:p>
            <a:endParaRPr lang="en-IN"/>
          </a:p>
        </p:txBody>
      </p:sp>
      <p:sp>
        <p:nvSpPr>
          <p:cNvPr id="1048622"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27E7D1-18E9-4FCA-A891-5E948E9F1D17}" type="datetimeFigureOut">
              <a:rPr lang="en-IN" smtClean="0"/>
              <a:t>27-10-2024</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24382-CAFE-4BC1-8D04-999FB0D8C64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87" name="object 3"/>
          <p:cNvSpPr txBox="1">
            <a:spLocks noGrp="1"/>
          </p:cNvSpPr>
          <p:nvPr>
            <p:ph type="title"/>
          </p:nvPr>
        </p:nvSpPr>
        <p:spPr>
          <a:xfrm>
            <a:off x="2684544" y="518330"/>
            <a:ext cx="6570031" cy="566822"/>
          </a:xfrm>
          <a:prstGeom prst="rect">
            <a:avLst/>
          </a:prstGeom>
        </p:spPr>
        <p:txBody>
          <a:bodyPr vert="horz" wrap="square" lIns="0" tIns="12700" rIns="0" bIns="0" rtlCol="0">
            <a:spAutoFit/>
          </a:bodyPr>
          <a:lstStyle/>
          <a:p>
            <a:pPr marL="12700" algn="just">
              <a:lnSpc>
                <a:spcPct val="100000"/>
              </a:lnSpc>
              <a:spcBef>
                <a:spcPts val="100"/>
              </a:spcBef>
            </a:pPr>
            <a:r>
              <a:rPr lang="en-US" sz="3600" b="1" dirty="0">
                <a:solidFill>
                  <a:srgbClr val="FF0000"/>
                </a:solidFill>
                <a:latin typeface="Times New Roman" panose="02020603050405020304" pitchFamily="18" charset="0"/>
                <a:cs typeface="Times New Roman" panose="02020603050405020304" pitchFamily="18" charset="0"/>
              </a:rPr>
              <a:t>Speech Emotion Recognition</a:t>
            </a:r>
          </a:p>
        </p:txBody>
      </p:sp>
      <p:sp>
        <p:nvSpPr>
          <p:cNvPr id="1048588" name="object 5"/>
          <p:cNvSpPr txBox="1"/>
          <p:nvPr/>
        </p:nvSpPr>
        <p:spPr>
          <a:xfrm>
            <a:off x="4300573" y="2033738"/>
            <a:ext cx="4825221" cy="320601"/>
          </a:xfrm>
          <a:prstGeom prst="rect">
            <a:avLst/>
          </a:prstGeom>
        </p:spPr>
        <p:txBody>
          <a:bodyPr vert="horz" wrap="square" lIns="0" tIns="12700" rIns="0" bIns="0" rtlCol="0">
            <a:spAutoFit/>
          </a:bodyPr>
          <a:lstStyle/>
          <a:p>
            <a:pPr marL="100965"/>
            <a:r>
              <a:rPr lang="en-IN" sz="2000" b="1" spc="-10" dirty="0">
                <a:latin typeface="Times New Roman" panose="02020603050405020304" pitchFamily="18" charset="0"/>
                <a:cs typeface="Times New Roman" panose="02020603050405020304" pitchFamily="18" charset="0"/>
              </a:rPr>
              <a:t>2211CS050058	 L.Murari</a:t>
            </a:r>
          </a:p>
        </p:txBody>
      </p:sp>
      <p:sp>
        <p:nvSpPr>
          <p:cNvPr id="1048589" name="object 6"/>
          <p:cNvSpPr txBox="1"/>
          <p:nvPr/>
        </p:nvSpPr>
        <p:spPr>
          <a:xfrm>
            <a:off x="3623372" y="5088548"/>
            <a:ext cx="4941952" cy="1273937"/>
          </a:xfrm>
          <a:prstGeom prst="rect">
            <a:avLst/>
          </a:prstGeom>
        </p:spPr>
        <p:txBody>
          <a:bodyPr vert="horz" wrap="square" lIns="0" tIns="58419" rIns="0" bIns="0" rtlCol="0">
            <a:spAutoFit/>
          </a:bodyPr>
          <a:lstStyle/>
          <a:p>
            <a:pPr marL="12700" marR="5080" indent="-635" algn="ctr">
              <a:lnSpc>
                <a:spcPct val="104900"/>
              </a:lnSpc>
            </a:pPr>
            <a:r>
              <a:rPr lang="en-IN" b="1" spc="-5" dirty="0">
                <a:solidFill>
                  <a:srgbClr val="0004A1"/>
                </a:solidFill>
                <a:latin typeface="+mj-lt"/>
                <a:cs typeface="Perpetua"/>
              </a:rPr>
              <a:t>Department of IOT</a:t>
            </a:r>
          </a:p>
          <a:p>
            <a:pPr marL="12700" marR="5080" indent="-635" algn="ctr">
              <a:lnSpc>
                <a:spcPct val="104900"/>
              </a:lnSpc>
            </a:pPr>
            <a:r>
              <a:rPr lang="en-IN" b="1" spc="-5" dirty="0">
                <a:solidFill>
                  <a:srgbClr val="0004A1"/>
                </a:solidFill>
                <a:latin typeface="+mj-lt"/>
                <a:cs typeface="Perpetua"/>
              </a:rPr>
              <a:t>School of Engineering</a:t>
            </a:r>
          </a:p>
          <a:p>
            <a:pPr marL="12700" marR="5080" indent="-635" algn="ctr">
              <a:lnSpc>
                <a:spcPct val="104900"/>
              </a:lnSpc>
            </a:pPr>
            <a:r>
              <a:rPr lang="en-IN" sz="2000" b="1" spc="-15" dirty="0">
                <a:solidFill>
                  <a:srgbClr val="0004A1"/>
                </a:solidFill>
                <a:latin typeface="+mj-lt"/>
                <a:cs typeface="Perpetua"/>
              </a:rPr>
              <a:t>Malla Reddy University</a:t>
            </a:r>
          </a:p>
          <a:p>
            <a:pPr marL="12700" marR="5080" indent="-635" algn="ctr">
              <a:lnSpc>
                <a:spcPct val="104900"/>
              </a:lnSpc>
            </a:pPr>
            <a:r>
              <a:rPr lang="en-IN" sz="2000" b="1" spc="-5" dirty="0">
                <a:solidFill>
                  <a:srgbClr val="0004A1"/>
                </a:solidFill>
                <a:latin typeface="+mj-lt"/>
                <a:cs typeface="Perpetua"/>
              </a:rPr>
              <a:t>Hyderabad, </a:t>
            </a:r>
            <a:r>
              <a:rPr lang="en-IN" sz="2000" b="1" spc="-70" dirty="0">
                <a:solidFill>
                  <a:srgbClr val="0004A1"/>
                </a:solidFill>
                <a:latin typeface="+mj-lt"/>
                <a:cs typeface="Perpetua"/>
              </a:rPr>
              <a:t>Telangana,</a:t>
            </a:r>
            <a:r>
              <a:rPr lang="en-IN" sz="2000" b="1" spc="-305" dirty="0">
                <a:solidFill>
                  <a:srgbClr val="0004A1"/>
                </a:solidFill>
                <a:latin typeface="+mj-lt"/>
                <a:cs typeface="Perpetua"/>
              </a:rPr>
              <a:t>  </a:t>
            </a:r>
            <a:r>
              <a:rPr lang="en-IN" sz="2000" b="1" spc="-5" dirty="0">
                <a:solidFill>
                  <a:srgbClr val="0004A1"/>
                </a:solidFill>
                <a:latin typeface="+mj-lt"/>
                <a:cs typeface="Perpetua"/>
              </a:rPr>
              <a:t>INDIA</a:t>
            </a:r>
            <a:endParaRPr lang="en-IN" sz="2000" dirty="0">
              <a:latin typeface="+mj-lt"/>
              <a:cs typeface="Perpetua"/>
            </a:endParaRPr>
          </a:p>
        </p:txBody>
      </p:sp>
      <p:pic>
        <p:nvPicPr>
          <p:cNvPr id="2097152" name="object 7"/>
          <p:cNvPicPr>
            <a:picLocks/>
          </p:cNvPicPr>
          <p:nvPr/>
        </p:nvPicPr>
        <p:blipFill>
          <a:blip r:embed="rId2" cstate="print"/>
          <a:stretch>
            <a:fillRect/>
          </a:stretch>
        </p:blipFill>
        <p:spPr>
          <a:xfrm>
            <a:off x="609600" y="4693422"/>
            <a:ext cx="1752600" cy="1680972"/>
          </a:xfrm>
          <a:prstGeom prst="rect">
            <a:avLst/>
          </a:prstGeom>
        </p:spPr>
      </p:pic>
      <p:sp>
        <p:nvSpPr>
          <p:cNvPr id="1048590" name="TextBox 7"/>
          <p:cNvSpPr txBox="1"/>
          <p:nvPr/>
        </p:nvSpPr>
        <p:spPr>
          <a:xfrm>
            <a:off x="3553581" y="3416870"/>
            <a:ext cx="4755324" cy="720710"/>
          </a:xfrm>
          <a:prstGeom prst="rect">
            <a:avLst/>
          </a:prstGeom>
          <a:noFill/>
        </p:spPr>
        <p:txBody>
          <a:bodyPr wrap="square" rtlCol="0">
            <a:spAutoFit/>
          </a:bodyPr>
          <a:lstStyle/>
          <a:p>
            <a:pPr marL="12700" algn="ctr">
              <a:spcBef>
                <a:spcPts val="120"/>
              </a:spcBef>
            </a:pPr>
            <a:r>
              <a:rPr lang="en-IN" sz="2000" b="1" dirty="0">
                <a:latin typeface="+mj-lt"/>
                <a:cs typeface="Arial" panose="020B0604020202020204" pitchFamily="34" charset="0"/>
              </a:rPr>
              <a:t>Under </a:t>
            </a:r>
            <a:r>
              <a:rPr lang="en-IN" sz="2000" b="1" spc="-5" dirty="0">
                <a:latin typeface="+mj-lt"/>
                <a:cs typeface="Arial" panose="020B0604020202020204" pitchFamily="34" charset="0"/>
              </a:rPr>
              <a:t>the </a:t>
            </a:r>
            <a:r>
              <a:rPr lang="en-IN" sz="2000" b="1" dirty="0">
                <a:latin typeface="+mj-lt"/>
                <a:cs typeface="Arial" panose="020B0604020202020204" pitchFamily="34" charset="0"/>
              </a:rPr>
              <a:t>Guidance</a:t>
            </a:r>
            <a:r>
              <a:rPr lang="en-IN" sz="2000" b="1" spc="-105" dirty="0">
                <a:latin typeface="+mj-lt"/>
                <a:cs typeface="Arial" panose="020B0604020202020204" pitchFamily="34" charset="0"/>
              </a:rPr>
              <a:t> </a:t>
            </a:r>
            <a:r>
              <a:rPr lang="en-IN" sz="2000" b="1" dirty="0">
                <a:latin typeface="+mj-lt"/>
                <a:cs typeface="Arial" panose="020B0604020202020204" pitchFamily="34" charset="0"/>
              </a:rPr>
              <a:t>of</a:t>
            </a:r>
          </a:p>
          <a:p>
            <a:pPr marL="12700" algn="ctr">
              <a:spcBef>
                <a:spcPts val="120"/>
              </a:spcBef>
            </a:pPr>
            <a:r>
              <a:rPr lang="en-US" sz="2000" b="1" spc="-40" dirty="0">
                <a:solidFill>
                  <a:srgbClr val="FF0000"/>
                </a:solidFill>
                <a:latin typeface="+mj-lt"/>
                <a:cs typeface="Arial" panose="020B0604020202020204" pitchFamily="34" charset="0"/>
              </a:rPr>
              <a:t>K.Rashmi</a:t>
            </a:r>
            <a:endParaRPr lang="en-IN" b="1" spc="-40" dirty="0">
              <a:solidFill>
                <a:srgbClr val="FF0000"/>
              </a:solidFill>
              <a:latin typeface="+mj-lt"/>
              <a:cs typeface="Arial" panose="020B0604020202020204" pitchFamily="34" charset="0"/>
            </a:endParaRPr>
          </a:p>
        </p:txBody>
      </p:sp>
      <p:sp>
        <p:nvSpPr>
          <p:cNvPr id="1048591" name="TextBox 8"/>
          <p:cNvSpPr txBox="1"/>
          <p:nvPr/>
        </p:nvSpPr>
        <p:spPr>
          <a:xfrm>
            <a:off x="5708821" y="1408825"/>
            <a:ext cx="444845" cy="369332"/>
          </a:xfrm>
          <a:prstGeom prst="rect">
            <a:avLst/>
          </a:prstGeom>
          <a:noFill/>
        </p:spPr>
        <p:txBody>
          <a:bodyPr wrap="square" rtlCol="0">
            <a:spAutoFit/>
          </a:bodyPr>
          <a:lstStyle/>
          <a:p>
            <a:r>
              <a:rPr lang="en-US" dirty="0"/>
              <a:t>By</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93" name="Title 1"/>
          <p:cNvSpPr txBox="1"/>
          <p:nvPr/>
        </p:nvSpPr>
        <p:spPr>
          <a:xfrm>
            <a:off x="196273" y="-2032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rgbClr val="002060"/>
                </a:solidFill>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368D1A8-A519-5053-F2C1-F5AFA988EC4C}"/>
              </a:ext>
            </a:extLst>
          </p:cNvPr>
          <p:cNvSpPr txBox="1"/>
          <p:nvPr/>
        </p:nvSpPr>
        <p:spPr>
          <a:xfrm>
            <a:off x="365448" y="1245481"/>
            <a:ext cx="11493759" cy="4110741"/>
          </a:xfrm>
          <a:prstGeom prst="rect">
            <a:avLst/>
          </a:prstGeom>
          <a:noFill/>
        </p:spPr>
        <p:txBody>
          <a:bodyPr wrap="square">
            <a:spAutoFit/>
          </a:bodyPr>
          <a:lstStyle/>
          <a:p>
            <a:pPr marL="18415" marR="5080" indent="-6350" algn="just">
              <a:lnSpc>
                <a:spcPct val="150000"/>
              </a:lnSpc>
              <a:spcBef>
                <a:spcPts val="95"/>
              </a:spcBef>
            </a:pPr>
            <a:r>
              <a:rPr lang="en-US" sz="1600" dirty="0">
                <a:latin typeface="Times New Roman" panose="02020603050405020304" pitchFamily="18" charset="0"/>
                <a:cs typeface="Times New Roman" panose="02020603050405020304" pitchFamily="18" charset="0"/>
              </a:rPr>
              <a:t>The Speech Emotion Recognition (SER) project focuses on developing a machine learning-based system that accurately identifies and classifies human emotions from vocal inputs. This system leverages advanced acoustic analysis and machine learning techniques to process and interpret emotional content in speech. Key features such as pitch, intensity, and speech rate are extracted from audio samples and fed into various algorithms, including Support Vector Machines (SVM), Random Forests, and Naive Bayes. The model is trained on diverse emotional datasets, ensuring versatility in handling different languages and accents. To enhance the precision of emotion detection, the project integrates feature selection methods and ensemble learning techniques to refine the model's performance.</a:t>
            </a:r>
          </a:p>
          <a:p>
            <a:pPr marL="18415" marR="5080" indent="-6350" algn="just">
              <a:lnSpc>
                <a:spcPct val="150000"/>
              </a:lnSpc>
              <a:spcBef>
                <a:spcPts val="95"/>
              </a:spcBef>
            </a:pPr>
            <a:r>
              <a:rPr lang="en-US" sz="1600" dirty="0">
                <a:latin typeface="Times New Roman" panose="02020603050405020304" pitchFamily="18" charset="0"/>
                <a:cs typeface="Times New Roman" panose="02020603050405020304" pitchFamily="18" charset="0"/>
              </a:rPr>
              <a:t>In addition to emotion classification, the system provides graphical representations of emotional trends and generates text scripts from the audio, offering a comprehensive understanding of emotional nuances. Applications of this technology include enhancing human-computer interaction in virtual assistants, improving customer service through emotion-aware responses, and equipping mental health professionals with tools for assessing emotional states more effectively. The long-term vision encompasses real-time emotion recognition and adaptation, contributing to more intuitive and empathetic user experiences across various domains.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274781" y="152689"/>
            <a:ext cx="3181709" cy="652792"/>
          </a:xfrm>
        </p:spPr>
        <p:txBody>
          <a:bodyPr>
            <a:normAutofit/>
          </a:bodyPr>
          <a:lstStyle/>
          <a:p>
            <a:r>
              <a:rPr lang="en-IN" sz="3600" b="1" dirty="0">
                <a:solidFill>
                  <a:srgbClr val="002060"/>
                </a:solidFill>
                <a:latin typeface="Times New Roman" panose="02020603050405020304" pitchFamily="18" charset="0"/>
                <a:cs typeface="Times New Roman" panose="02020603050405020304" pitchFamily="18" charset="0"/>
              </a:rPr>
              <a:t>1. Introduction</a:t>
            </a:r>
            <a:endParaRPr lang="en-IN" sz="3600" b="1" dirty="0">
              <a:latin typeface="Times New Roman" panose="02020603050405020304" pitchFamily="18" charset="0"/>
              <a:cs typeface="Times New Roman" panose="02020603050405020304" pitchFamily="18" charset="0"/>
            </a:endParaRPr>
          </a:p>
        </p:txBody>
      </p:sp>
      <p:sp>
        <p:nvSpPr>
          <p:cNvPr id="1048595" name="Content Placeholder 2"/>
          <p:cNvSpPr>
            <a:spLocks noGrp="1"/>
          </p:cNvSpPr>
          <p:nvPr>
            <p:ph idx="1"/>
          </p:nvPr>
        </p:nvSpPr>
        <p:spPr>
          <a:xfrm>
            <a:off x="101208" y="818529"/>
            <a:ext cx="11961483" cy="5748525"/>
          </a:xfrm>
        </p:spPr>
        <p:txBody>
          <a:bodyPr>
            <a:normAutofit fontScale="32500" lnSpcReduction="20000"/>
          </a:bodyPr>
          <a:lstStyle/>
          <a:p>
            <a:pPr marL="0" indent="0" algn="just">
              <a:buNone/>
            </a:pPr>
            <a:r>
              <a:rPr lang="en-IN" sz="8000" b="1" dirty="0">
                <a:solidFill>
                  <a:srgbClr val="002060"/>
                </a:solidFill>
              </a:rPr>
              <a:t>1.1 </a:t>
            </a:r>
            <a:r>
              <a:rPr lang="en-IN" sz="8000" b="1" dirty="0">
                <a:solidFill>
                  <a:srgbClr val="002060"/>
                </a:solidFill>
                <a:latin typeface="Times New Roman" panose="02020603050405020304" pitchFamily="18" charset="0"/>
                <a:cs typeface="Times New Roman" panose="02020603050405020304" pitchFamily="18" charset="0"/>
              </a:rPr>
              <a:t>Problem Definition:</a:t>
            </a:r>
          </a:p>
          <a:p>
            <a:pPr marL="0" indent="0" algn="just">
              <a:lnSpc>
                <a:spcPct val="170000"/>
              </a:lnSpc>
              <a:buNone/>
            </a:pPr>
            <a:r>
              <a:rPr lang="en-US" sz="4800" dirty="0"/>
              <a:t>In previous attempts to build a Speech Emotion Recognition (SER) system with speech-to-text functionality, several challenges were encountered that hindered the accuracy and usability of the models. One major issue was the inconsistent quality of feature extraction from audio files, leading to inaccurate emotion classification. Features such as MFCCs, chroma, and </a:t>
            </a:r>
            <a:r>
              <a:rPr lang="en-US" sz="4800" dirty="0" err="1"/>
              <a:t>mel</a:t>
            </a:r>
            <a:r>
              <a:rPr lang="en-US" sz="4800" dirty="0"/>
              <a:t>-spectrograms were sometimes not sufficiently robust across various speakers, languages, and recording conditions, causing the machine learning models to perform poorly, particularly with diverse accents and emotions. There were difficulties with GUI integration, where models did not seamlessly interact with the </a:t>
            </a:r>
            <a:r>
              <a:rPr lang="en-US" sz="4800" dirty="0" err="1"/>
              <a:t>Tkinter</a:t>
            </a:r>
            <a:r>
              <a:rPr lang="en-US" sz="4800" dirty="0"/>
              <a:t> interface, causing lag or failure to display the results. These issues highlight the need for better noise handling, improved feature robustness, and model generalization in future iterations.</a:t>
            </a:r>
            <a:endParaRPr lang="en-US" sz="6400" dirty="0">
              <a:latin typeface="Times New Roman" panose="02020603050405020304" pitchFamily="18" charset="0"/>
              <a:cs typeface="Times New Roman" panose="02020603050405020304" pitchFamily="18" charset="0"/>
            </a:endParaRPr>
          </a:p>
          <a:p>
            <a:pPr marL="0" indent="0" algn="just">
              <a:lnSpc>
                <a:spcPct val="170000"/>
              </a:lnSpc>
              <a:buNone/>
            </a:pPr>
            <a:r>
              <a:rPr lang="en-IN" sz="8000" b="1" dirty="0">
                <a:solidFill>
                  <a:srgbClr val="002060"/>
                </a:solidFill>
                <a:latin typeface="Times New Roman" panose="02020603050405020304" pitchFamily="18" charset="0"/>
                <a:cs typeface="Times New Roman" panose="02020603050405020304" pitchFamily="18" charset="0"/>
              </a:rPr>
              <a:t>Problem Description</a:t>
            </a:r>
          </a:p>
          <a:p>
            <a:pPr marL="0" indent="0" algn="just">
              <a:lnSpc>
                <a:spcPct val="170000"/>
              </a:lnSpc>
              <a:buNone/>
            </a:pPr>
            <a:r>
              <a:rPr lang="en-US" sz="4800" dirty="0"/>
              <a:t>The project aims to develop an integrated Speech Emotion Recognition (SER) and speech-to-text system using machine learning models. The goal is to accurately predict human emotions from audio inputs while simultaneously transcribing speech into text. A </a:t>
            </a:r>
            <a:r>
              <a:rPr lang="en-US" sz="4800" dirty="0" err="1"/>
              <a:t>Tkinter</a:t>
            </a:r>
            <a:r>
              <a:rPr lang="en-US" sz="4800" dirty="0"/>
              <a:t>-based GUI enables users to upload audio files, visualize their spectrograms, predict emotions, and obtain textual transcripts. The main objective is to build a robust and user-friendly application that can be applied in areas such as human-computer interaction, emotion analysis, and assistive technologies, with a focus on improving model accuracy, feature extraction, and handling diverse speech conditions and accents.</a:t>
            </a:r>
            <a:endParaRPr lang="en-IN" sz="6400" b="1" dirty="0">
              <a:solidFill>
                <a:srgbClr val="002060"/>
              </a:solidFill>
              <a:latin typeface="Times New Roman" panose="02020603050405020304" pitchFamily="18" charset="0"/>
              <a:cs typeface="Times New Roman" panose="02020603050405020304" pitchFamily="18" charset="0"/>
            </a:endParaRPr>
          </a:p>
          <a:p>
            <a:pPr lvl="3" algn="just"/>
            <a:endParaRPr lang="en-US" sz="4000" b="1" dirty="0">
              <a:solidFill>
                <a:srgbClr val="002060"/>
              </a:solidFill>
            </a:endParaRPr>
          </a:p>
          <a:p>
            <a:pPr marL="0" indent="0" algn="just">
              <a:buNone/>
            </a:pPr>
            <a:endParaRPr lang="en-US" sz="4000" b="1" dirty="0">
              <a:solidFill>
                <a:srgbClr val="002060"/>
              </a:solidFill>
            </a:endParaRPr>
          </a:p>
          <a:p>
            <a:pPr marL="0" indent="0" algn="just">
              <a:buNone/>
            </a:pPr>
            <a:endParaRPr lang="en-US" sz="4000" b="1" dirty="0">
              <a:solidFill>
                <a:srgbClr val="002060"/>
              </a:solidFill>
            </a:endParaRPr>
          </a:p>
          <a:p>
            <a:pPr marL="0" indent="0" algn="just">
              <a:buNone/>
            </a:pPr>
            <a:endParaRPr lang="en-US" sz="2000" b="1" dirty="0">
              <a:solidFill>
                <a:srgbClr val="002060"/>
              </a:solidFill>
            </a:endParaRPr>
          </a:p>
        </p:txBody>
      </p:sp>
      <p:sp>
        <p:nvSpPr>
          <p:cNvPr id="104859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108527" y="263525"/>
            <a:ext cx="3440502"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1. Introduction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AEC0F1-9C19-B677-F392-2831CD230FC5}"/>
              </a:ext>
            </a:extLst>
          </p:cNvPr>
          <p:cNvSpPr>
            <a:spLocks noGrp="1"/>
          </p:cNvSpPr>
          <p:nvPr>
            <p:ph idx="1"/>
          </p:nvPr>
        </p:nvSpPr>
        <p:spPr>
          <a:xfrm>
            <a:off x="90056" y="975020"/>
            <a:ext cx="12009581" cy="5684398"/>
          </a:xfrm>
        </p:spPr>
        <p:txBody>
          <a:bodyPr>
            <a:normAutofit/>
          </a:bodyPr>
          <a:lstStyle/>
          <a:p>
            <a:pPr marL="0" indent="0" algn="just">
              <a:buNone/>
            </a:pPr>
            <a:r>
              <a:rPr lang="en-IN" sz="2300" b="1" dirty="0">
                <a:solidFill>
                  <a:srgbClr val="002060"/>
                </a:solidFill>
              </a:rPr>
              <a:t>1.2 Objectives of the Project	</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The objective of this project is to develop a reliable and adaptable Speech Emotion Recognition (SER) system that can accurately identify and classify emotions from both recorded audio and live voice inputs. This project leverages machine learning algorithms such as Support Vector Machines, Random Forest, and Naive Bayes to enhance emotion detection precision. The system is designed to handle diverse languages and accents, ensuring broad applicability and robust performance. Additionally, the project provides a dual-output approach, delivering both emotion classification and speech transcription for a comprehensive understanding of verbal and emotional contexts in communication. By incorporating live voice input functionality, the system allows for real-time emotional insights, which is particularly valuable for applications in virtual assistance, customer service, and mental health, where understanding user emotions can enrich interactions and user experiences.</a:t>
            </a:r>
          </a:p>
          <a:p>
            <a:pPr marL="0" indent="0" algn="just">
              <a:lnSpc>
                <a:spcPct val="150000"/>
              </a:lnSpc>
              <a:buNone/>
            </a:pPr>
            <a:r>
              <a:rPr lang="en-IN" sz="2300" b="1" dirty="0">
                <a:solidFill>
                  <a:srgbClr val="002060"/>
                </a:solidFill>
              </a:rPr>
              <a:t>1.3 Aim </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The aim of this project is to design and implement a Speech Emotion Recognition (SER) system capable of accurately identifying and classifying emotions from vocal inputs, including live voice data, to facilitate more natural and responsive human-computer interactions. the system aims to enhance communication by providing both emotional classification and textual transcription, which offers insights into the emotional and verbal content of speech.</a:t>
            </a:r>
            <a:endParaRPr lang="en-US" sz="1600" b="1"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6F50483E-BD4C-E35D-BC40-F8F9FB9623EF}"/>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2024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78179" y="660888"/>
            <a:ext cx="3388743"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2. </a:t>
            </a:r>
            <a:r>
              <a:rPr lang="en-US" sz="3600" b="1" dirty="0">
                <a:solidFill>
                  <a:srgbClr val="002060"/>
                </a:solidFill>
                <a:latin typeface="Times New Roman" panose="02020603050405020304" pitchFamily="18" charset="0"/>
                <a:cs typeface="Times New Roman" panose="02020603050405020304" pitchFamily="18" charset="0"/>
              </a:rPr>
              <a:t>Methodology</a:t>
            </a:r>
            <a:br>
              <a:rPr lang="en-US" sz="3600" b="1" dirty="0">
                <a:solidFill>
                  <a:srgbClr val="002060"/>
                </a:solidFill>
                <a:latin typeface="Times New Roman" panose="02020603050405020304" pitchFamily="18" charset="0"/>
                <a:cs typeface="Times New Roman" panose="02020603050405020304" pitchFamily="18" charset="0"/>
              </a:rPr>
            </a:br>
            <a:r>
              <a:rPr lang="en-US" sz="3600" b="1" dirty="0">
                <a:solidFill>
                  <a:srgbClr val="002060"/>
                </a:solidFill>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B0BCA66F-0CF5-3C09-6159-8CB7E055D9E1}"/>
              </a:ext>
            </a:extLst>
          </p:cNvPr>
          <p:cNvSpPr>
            <a:spLocks noChangeArrowheads="1"/>
          </p:cNvSpPr>
          <p:nvPr/>
        </p:nvSpPr>
        <p:spPr bwMode="auto">
          <a:xfrm rot="10800000" flipV="1">
            <a:off x="397515" y="1205991"/>
            <a:ext cx="11424968" cy="8156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Arial" panose="020B0604020202020204" pitchFamily="34" charset="0"/>
              <a:buChar char="•"/>
            </a:pPr>
            <a:r>
              <a:rPr lang="en-US" sz="1600" b="1" dirty="0"/>
              <a:t>Data Collection and Preprocessing</a:t>
            </a:r>
            <a:r>
              <a:rPr lang="en-US" sz="1600" dirty="0"/>
              <a:t>: The project begins by gathering audio datasets that contain diverse emotional expressions, ensuring variability in accents, languages, and tonal patterns.</a:t>
            </a:r>
          </a:p>
          <a:p>
            <a:pPr algn="just">
              <a:lnSpc>
                <a:spcPct val="150000"/>
              </a:lnSpc>
              <a:buFont typeface="Arial" panose="020B0604020202020204" pitchFamily="34" charset="0"/>
              <a:buChar char="•"/>
            </a:pPr>
            <a:r>
              <a:rPr lang="en-US" sz="1600" b="1" dirty="0"/>
              <a:t>Feature Extraction</a:t>
            </a:r>
            <a:r>
              <a:rPr lang="en-US" sz="1600" dirty="0"/>
              <a:t>: In this phase, critical acoustic features such as Mel Frequency Cepstral Coefficients (MFCC), chroma, and Mel spectrograms are extracted from each audio sample.</a:t>
            </a:r>
          </a:p>
          <a:p>
            <a:pPr algn="just">
              <a:lnSpc>
                <a:spcPct val="150000"/>
              </a:lnSpc>
              <a:buFont typeface="Arial" panose="020B0604020202020204" pitchFamily="34" charset="0"/>
              <a:buChar char="•"/>
            </a:pPr>
            <a:r>
              <a:rPr lang="en-US" sz="1600" b="1" dirty="0"/>
              <a:t>Live Voice Input Integration</a:t>
            </a:r>
            <a:r>
              <a:rPr lang="en-US" sz="1600" dirty="0"/>
              <a:t>: A key part of the project is the real-time processing of live voice input. Using live audio capture, the system applies preprocessing and feature extraction in real time, allowing for immediate emotion classification.</a:t>
            </a:r>
          </a:p>
          <a:p>
            <a:pPr algn="just">
              <a:lnSpc>
                <a:spcPct val="150000"/>
              </a:lnSpc>
              <a:buFont typeface="Arial" panose="020B0604020202020204" pitchFamily="34" charset="0"/>
              <a:buChar char="•"/>
            </a:pPr>
            <a:r>
              <a:rPr lang="en-US" sz="1600" b="1" dirty="0"/>
              <a:t>Emotion Classification and Speech Transcription</a:t>
            </a:r>
            <a:r>
              <a:rPr lang="en-US" sz="1600" dirty="0"/>
              <a:t>: The trained model is deployed to classify emotions from both recorded and live audio inputs. In addition to emotion detection, a speech-to-text module transcribes the spoken content, providing a comprehensive analysis of both emotional and verbal information from the audio.</a:t>
            </a:r>
          </a:p>
          <a:p>
            <a:pPr algn="just">
              <a:lnSpc>
                <a:spcPct val="150000"/>
              </a:lnSpc>
              <a:buFont typeface="Arial" panose="020B0604020202020204" pitchFamily="34" charset="0"/>
              <a:buChar char="•"/>
            </a:pPr>
            <a:r>
              <a:rPr lang="en-US" sz="1600" b="1" dirty="0"/>
              <a:t>Visualization and User Interface</a:t>
            </a:r>
            <a:r>
              <a:rPr lang="en-US" sz="1600" dirty="0"/>
              <a:t>: Finally, graphical representations of emotional trends are generated, and a user-friendly interface is developed using </a:t>
            </a:r>
            <a:r>
              <a:rPr lang="en-US" sz="1600" dirty="0" err="1"/>
              <a:t>Tkinter</a:t>
            </a:r>
            <a:r>
              <a:rPr lang="en-US" sz="1600" dirty="0"/>
              <a:t>, allowing users to upload audio files, view emotion predictions, and access transcriptions.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08D0D3A1-69D1-599A-B91A-660C840897AD}"/>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2131188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562154" y="399631"/>
            <a:ext cx="3388743"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2. </a:t>
            </a:r>
            <a:r>
              <a:rPr lang="en-US" sz="3600" b="1" dirty="0">
                <a:solidFill>
                  <a:srgbClr val="002060"/>
                </a:solidFill>
                <a:latin typeface="Times New Roman" panose="02020603050405020304" pitchFamily="18" charset="0"/>
                <a:cs typeface="Times New Roman" panose="02020603050405020304" pitchFamily="18" charset="0"/>
              </a:rPr>
              <a:t>Methodology </a:t>
            </a:r>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6ED7E5-C8B1-0354-6334-387DF2872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0620" y="1486095"/>
            <a:ext cx="8886825" cy="3867150"/>
          </a:xfrm>
          <a:prstGeom prst="rect">
            <a:avLst/>
          </a:prstGeom>
        </p:spPr>
      </p:pic>
    </p:spTree>
    <p:extLst>
      <p:ext uri="{BB962C8B-B14F-4D97-AF65-F5344CB8AC3E}">
        <p14:creationId xmlns:p14="http://schemas.microsoft.com/office/powerpoint/2010/main" val="2635421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58638" y="537653"/>
            <a:ext cx="3371490"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3. </a:t>
            </a:r>
            <a:r>
              <a:rPr lang="en-US" sz="3600" b="1" dirty="0">
                <a:solidFill>
                  <a:srgbClr val="002060"/>
                </a:solidFill>
                <a:latin typeface="Times New Roman" panose="02020603050405020304" pitchFamily="18" charset="0"/>
                <a:cs typeface="Times New Roman" panose="02020603050405020304" pitchFamily="18" charset="0"/>
              </a:rPr>
              <a:t>Technologies</a:t>
            </a:r>
            <a:endParaRPr lang="en-IN" sz="3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16F9BDEE-859A-B2DD-22AA-07E38304616D}"/>
              </a:ext>
            </a:extLst>
          </p:cNvPr>
          <p:cNvSpPr>
            <a:spLocks noChangeArrowheads="1"/>
          </p:cNvSpPr>
          <p:nvPr/>
        </p:nvSpPr>
        <p:spPr bwMode="auto">
          <a:xfrm>
            <a:off x="261318" y="1372758"/>
            <a:ext cx="11838317"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key technologies used in the application include:</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Python</a:t>
            </a:r>
            <a:r>
              <a:rPr lang="en-US" sz="1600" dirty="0">
                <a:latin typeface="Times New Roman" panose="02020603050405020304" pitchFamily="18" charset="0"/>
                <a:cs typeface="Times New Roman" panose="02020603050405020304" pitchFamily="18" charset="0"/>
              </a:rPr>
              <a:t>: The primary programming language used for implementing the entire SER system, Python's simplicity and extensive library support make it ideal for data manipulation and machine learning tasks.</a:t>
            </a:r>
          </a:p>
          <a:p>
            <a:pPr algn="just">
              <a:lnSpc>
                <a:spcPct val="150000"/>
              </a:lnSpc>
              <a:buFont typeface="+mj-lt"/>
              <a:buAutoNum type="arabicPeriod"/>
            </a:pPr>
            <a:r>
              <a:rPr lang="en-US" sz="1600" b="1" dirty="0" err="1">
                <a:latin typeface="Times New Roman" panose="02020603050405020304" pitchFamily="18" charset="0"/>
                <a:cs typeface="Times New Roman" panose="02020603050405020304" pitchFamily="18" charset="0"/>
              </a:rPr>
              <a:t>Tkinter</a:t>
            </a:r>
            <a:r>
              <a:rPr lang="en-US" sz="1600" dirty="0">
                <a:latin typeface="Times New Roman" panose="02020603050405020304" pitchFamily="18" charset="0"/>
                <a:cs typeface="Times New Roman" panose="02020603050405020304" pitchFamily="18" charset="0"/>
              </a:rPr>
              <a:t>: This standard GUI toolkit for Python is employed to create the user interface of the SER system. </a:t>
            </a:r>
          </a:p>
          <a:p>
            <a:pPr algn="just">
              <a:lnSpc>
                <a:spcPct val="150000"/>
              </a:lnSpc>
              <a:buFont typeface="+mj-lt"/>
              <a:buAutoNum type="arabicPeriod"/>
            </a:pPr>
            <a:r>
              <a:rPr lang="en-US" sz="1600" b="1" dirty="0" err="1">
                <a:latin typeface="Times New Roman" panose="02020603050405020304" pitchFamily="18" charset="0"/>
                <a:cs typeface="Times New Roman" panose="02020603050405020304" pitchFamily="18" charset="0"/>
              </a:rPr>
              <a:t>Librosa</a:t>
            </a:r>
            <a:r>
              <a:rPr lang="en-US" sz="1600" dirty="0">
                <a:latin typeface="Times New Roman" panose="02020603050405020304" pitchFamily="18" charset="0"/>
                <a:cs typeface="Times New Roman" panose="02020603050405020304" pitchFamily="18" charset="0"/>
              </a:rPr>
              <a:t>: This library is crucial for audio analysis and feature extraction. It provides tools to process audio files, extract relevant features like Mel Frequency Cepstral Coefficients (MFCC), chroma features, and </a:t>
            </a:r>
            <a:r>
              <a:rPr lang="en-US" sz="1600" dirty="0" err="1">
                <a:latin typeface="Times New Roman" panose="02020603050405020304" pitchFamily="18" charset="0"/>
                <a:cs typeface="Times New Roman" panose="02020603050405020304" pitchFamily="18" charset="0"/>
              </a:rPr>
              <a:t>mel</a:t>
            </a:r>
            <a:r>
              <a:rPr lang="en-US" sz="1600" dirty="0">
                <a:latin typeface="Times New Roman" panose="02020603050405020304" pitchFamily="18" charset="0"/>
                <a:cs typeface="Times New Roman" panose="02020603050405020304" pitchFamily="18" charset="0"/>
              </a:rPr>
              <a:t> spectrograms.</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Scikit-learn</a:t>
            </a:r>
            <a:r>
              <a:rPr lang="en-US" sz="1600" dirty="0">
                <a:latin typeface="Times New Roman" panose="02020603050405020304" pitchFamily="18" charset="0"/>
                <a:cs typeface="Times New Roman" panose="02020603050405020304" pitchFamily="18" charset="0"/>
              </a:rPr>
              <a:t>: A comprehensive machine learning library that offers a range of algorithms for classification, regression, and clustering.</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Speech Recognition Library (</a:t>
            </a:r>
            <a:r>
              <a:rPr lang="en-US" sz="1600" b="1" dirty="0" err="1">
                <a:latin typeface="Times New Roman" panose="02020603050405020304" pitchFamily="18" charset="0"/>
                <a:cs typeface="Times New Roman" panose="02020603050405020304" pitchFamily="18" charset="0"/>
              </a:rPr>
              <a:t>SpeechRecognition</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This library enables the conversion of spoken language into text. It integrates with various speech recognition APIs to provide transcription capabilities, allowing the system to interpret and display spoken content alongside emotion detection.</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Real-time Audio Capture Tools</a:t>
            </a:r>
            <a:r>
              <a:rPr lang="en-US" sz="1600" dirty="0">
                <a:latin typeface="Times New Roman" panose="02020603050405020304" pitchFamily="18" charset="0"/>
                <a:cs typeface="Times New Roman" panose="02020603050405020304" pitchFamily="18" charset="0"/>
              </a:rPr>
              <a:t>: Various libraries or tools that support capturing live audio inputs are integrated to enable the real-time functionality of the SER system, allowing it to process and classify emotions from ongoing speech interactions. </a:t>
            </a:r>
          </a:p>
          <a:p>
            <a:endParaRPr lang="en-US" sz="2000" dirty="0"/>
          </a:p>
        </p:txBody>
      </p:sp>
      <p:sp>
        <p:nvSpPr>
          <p:cNvPr id="4" name="object 2">
            <a:extLst>
              <a:ext uri="{FF2B5EF4-FFF2-40B4-BE49-F238E27FC236}">
                <a16:creationId xmlns:a16="http://schemas.microsoft.com/office/drawing/2014/main" id="{2B25A2DE-0841-3253-DAB3-9DBEEF8098F5}"/>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505096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58638" y="537653"/>
            <a:ext cx="3483634"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4. Requirements</a:t>
            </a:r>
            <a:endParaRPr lang="en-IN" sz="36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04A4F544-C205-D283-B814-EABAA8947129}"/>
              </a:ext>
            </a:extLst>
          </p:cNvPr>
          <p:cNvSpPr>
            <a:spLocks noChangeArrowheads="1"/>
          </p:cNvSpPr>
          <p:nvPr/>
        </p:nvSpPr>
        <p:spPr bwMode="auto">
          <a:xfrm>
            <a:off x="705103" y="1693552"/>
            <a:ext cx="10803406" cy="4878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IN" sz="2300" b="1" dirty="0">
                <a:solidFill>
                  <a:srgbClr val="002060"/>
                </a:solidFill>
                <a:latin typeface="Times New Roman" panose="02020603050405020304" pitchFamily="18" charset="0"/>
                <a:cs typeface="Times New Roman" panose="02020603050405020304" pitchFamily="18" charset="0"/>
              </a:rPr>
              <a:t>4.1 </a:t>
            </a:r>
            <a:r>
              <a:rPr lang="en-US" sz="2300" b="1" dirty="0">
                <a:solidFill>
                  <a:srgbClr val="002060"/>
                </a:solidFill>
                <a:latin typeface="Times New Roman" panose="02020603050405020304" pitchFamily="18" charset="0"/>
                <a:cs typeface="Times New Roman" panose="02020603050405020304" pitchFamily="18" charset="0"/>
              </a:rPr>
              <a:t>Hardware Requirements</a:t>
            </a: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a:p>
            <a:pPr marL="0" indent="0" algn="just">
              <a:lnSpc>
                <a:spcPct val="150000"/>
              </a:lnSpc>
              <a:buNone/>
            </a:pPr>
            <a:r>
              <a:rPr lang="en-US" b="1" dirty="0">
                <a:latin typeface="Times New Roman" panose="02020603050405020304" pitchFamily="18" charset="0"/>
                <a:cs typeface="Times New Roman" panose="02020603050405020304" pitchFamily="18" charset="0"/>
              </a:rPr>
              <a:t>Processor</a:t>
            </a:r>
            <a:r>
              <a:rPr lang="en-US" dirty="0">
                <a:latin typeface="Times New Roman" panose="02020603050405020304" pitchFamily="18" charset="0"/>
                <a:cs typeface="Times New Roman" panose="02020603050405020304" pitchFamily="18" charset="0"/>
              </a:rPr>
              <a:t> : A modern multi-core processor (e.g., Intel i5 or AMD Ryzen 5) to handle data processing and machine learning model training efficiently.</a:t>
            </a:r>
          </a:p>
          <a:p>
            <a:pPr marL="0" indent="0" algn="just">
              <a:lnSpc>
                <a:spcPct val="150000"/>
              </a:lnSpc>
              <a:buNone/>
            </a:pPr>
            <a:r>
              <a:rPr lang="en-US" b="1" dirty="0">
                <a:latin typeface="Times New Roman" panose="02020603050405020304" pitchFamily="18" charset="0"/>
                <a:cs typeface="Times New Roman" panose="02020603050405020304" pitchFamily="18" charset="0"/>
              </a:rPr>
              <a:t>Memory (RAM) :  </a:t>
            </a:r>
            <a:r>
              <a:rPr lang="en-US" dirty="0">
                <a:latin typeface="Times New Roman" panose="02020603050405020304" pitchFamily="18" charset="0"/>
                <a:cs typeface="Times New Roman" panose="02020603050405020304" pitchFamily="18" charset="0"/>
              </a:rPr>
              <a:t>At least 4GB of RAM, but 8GB or more is recommended for smoother performance, especially when working with larger datasets.</a:t>
            </a:r>
          </a:p>
          <a:p>
            <a:pPr marL="0" indent="0" algn="just">
              <a:lnSpc>
                <a:spcPct val="150000"/>
              </a:lnSpc>
              <a:buNone/>
            </a:pPr>
            <a:r>
              <a:rPr lang="en-US" b="1" dirty="0">
                <a:latin typeface="Times New Roman" panose="02020603050405020304" pitchFamily="18" charset="0"/>
                <a:cs typeface="Times New Roman" panose="02020603050405020304" pitchFamily="18" charset="0"/>
              </a:rPr>
              <a:t>Storage</a:t>
            </a:r>
            <a:r>
              <a:rPr lang="en-US" dirty="0">
                <a:latin typeface="Times New Roman" panose="02020603050405020304" pitchFamily="18" charset="0"/>
                <a:cs typeface="Times New Roman" panose="02020603050405020304" pitchFamily="18" charset="0"/>
              </a:rPr>
              <a:t> :  Sufficient storage space (at least 256GB) to store the operating system, Python environment, required libraries, and datasets. An SSD is recommended for faster data access and overall performance.</a:t>
            </a:r>
          </a:p>
          <a:p>
            <a:pPr marL="0" indent="0" algn="just">
              <a:lnSpc>
                <a:spcPct val="150000"/>
              </a:lnSpc>
              <a:buNone/>
            </a:pPr>
            <a:r>
              <a:rPr lang="en-US" b="1" dirty="0">
                <a:latin typeface="Times New Roman" panose="02020603050405020304" pitchFamily="18" charset="0"/>
                <a:cs typeface="Times New Roman" panose="02020603050405020304" pitchFamily="18" charset="0"/>
              </a:rPr>
              <a:t>Graphics</a:t>
            </a:r>
            <a:r>
              <a:rPr lang="en-US" dirty="0">
                <a:latin typeface="Times New Roman" panose="02020603050405020304" pitchFamily="18" charset="0"/>
                <a:cs typeface="Times New Roman" panose="02020603050405020304" pitchFamily="18" charset="0"/>
              </a:rPr>
              <a:t> :  Integrated graphics should suffice, but a dedicated GPU can speed up certain machine learning tasks and enhance overall performance.</a:t>
            </a:r>
            <a:endParaRPr lang="en-US" altLang="en-US" b="1" dirty="0">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3" name="object 2">
            <a:extLst>
              <a:ext uri="{FF2B5EF4-FFF2-40B4-BE49-F238E27FC236}">
                <a16:creationId xmlns:a16="http://schemas.microsoft.com/office/drawing/2014/main" id="{625E5759-C6E9-786E-A9DF-973DDB57429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1758589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39975" y="369702"/>
            <a:ext cx="3500887"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4. Requirements</a:t>
            </a:r>
            <a:endParaRPr lang="en-IN" sz="3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F3B9CD56-7035-524C-9384-AE65A5C2FCFB}"/>
              </a:ext>
            </a:extLst>
          </p:cNvPr>
          <p:cNvSpPr>
            <a:spLocks noChangeArrowheads="1"/>
          </p:cNvSpPr>
          <p:nvPr/>
        </p:nvSpPr>
        <p:spPr bwMode="auto">
          <a:xfrm>
            <a:off x="890587" y="957996"/>
            <a:ext cx="10199298" cy="8202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2300" b="1" dirty="0">
                <a:solidFill>
                  <a:srgbClr val="002060"/>
                </a:solidFill>
                <a:latin typeface="Times New Roman" panose="02020603050405020304" pitchFamily="18" charset="0"/>
                <a:cs typeface="Times New Roman" panose="02020603050405020304" pitchFamily="18" charset="0"/>
              </a:rPr>
              <a:t>4.2 </a:t>
            </a:r>
            <a:r>
              <a:rPr lang="en-US" sz="2300" b="1" dirty="0">
                <a:solidFill>
                  <a:srgbClr val="002060"/>
                </a:solidFill>
                <a:latin typeface="Times New Roman" panose="02020603050405020304" pitchFamily="18" charset="0"/>
                <a:cs typeface="Times New Roman" panose="02020603050405020304" pitchFamily="18" charset="0"/>
              </a:rPr>
              <a:t>Software</a:t>
            </a:r>
            <a:r>
              <a:rPr lang="en-IN" sz="2300" b="1" dirty="0">
                <a:solidFill>
                  <a:srgbClr val="002060"/>
                </a:solidFill>
                <a:latin typeface="Times New Roman" panose="02020603050405020304" pitchFamily="18" charset="0"/>
                <a:cs typeface="Times New Roman" panose="02020603050405020304" pitchFamily="18" charset="0"/>
              </a:rPr>
              <a:t> </a:t>
            </a:r>
            <a:r>
              <a:rPr lang="en-US" sz="2300" b="1" dirty="0">
                <a:solidFill>
                  <a:srgbClr val="002060"/>
                </a:solidFill>
                <a:latin typeface="Times New Roman" panose="02020603050405020304" pitchFamily="18" charset="0"/>
                <a:cs typeface="Times New Roman" panose="02020603050405020304" pitchFamily="18" charset="0"/>
              </a:rPr>
              <a:t>Requirements </a:t>
            </a:r>
            <a:endParaRPr lang="en-IN"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indent="0" algn="just">
              <a:lnSpc>
                <a:spcPct val="150000"/>
              </a:lnSpc>
              <a:buFont typeface="Arial" panose="020B0604020202020204" pitchFamily="34" charset="0"/>
              <a:buNone/>
            </a:pPr>
            <a:r>
              <a:rPr lang="en-US" b="1" dirty="0">
                <a:latin typeface="Times New Roman" panose="02020603050405020304" pitchFamily="18" charset="0"/>
                <a:cs typeface="Times New Roman" panose="02020603050405020304" pitchFamily="18" charset="0"/>
              </a:rPr>
              <a:t>Libraries and Modules:</a:t>
            </a:r>
          </a:p>
          <a:p>
            <a:pPr marL="0" indent="0" algn="just">
              <a:lnSpc>
                <a:spcPct val="150000"/>
              </a:lnSpc>
              <a:buFont typeface="Arial" panose="020B0604020202020204" pitchFamily="34" charset="0"/>
              <a:buNone/>
            </a:pPr>
            <a:r>
              <a:rPr lang="en-US" b="1" dirty="0" err="1">
                <a:latin typeface="Times New Roman" panose="02020603050405020304" pitchFamily="18" charset="0"/>
                <a:cs typeface="Times New Roman" panose="02020603050405020304" pitchFamily="18" charset="0"/>
              </a:rPr>
              <a:t>Librosa</a:t>
            </a:r>
            <a:r>
              <a:rPr lang="en-US" dirty="0">
                <a:latin typeface="Times New Roman" panose="02020603050405020304" pitchFamily="18" charset="0"/>
                <a:cs typeface="Times New Roman" panose="02020603050405020304" pitchFamily="18" charset="0"/>
              </a:rPr>
              <a:t>: For audio processing and feature extraction. This library allows for extracting features like MFCC, chroma, and </a:t>
            </a:r>
            <a:r>
              <a:rPr lang="en-US" dirty="0" err="1">
                <a:latin typeface="Times New Roman" panose="02020603050405020304" pitchFamily="18" charset="0"/>
                <a:cs typeface="Times New Roman" panose="02020603050405020304" pitchFamily="18" charset="0"/>
              </a:rPr>
              <a:t>mel</a:t>
            </a:r>
            <a:r>
              <a:rPr lang="en-US" dirty="0">
                <a:latin typeface="Times New Roman" panose="02020603050405020304" pitchFamily="18" charset="0"/>
                <a:cs typeface="Times New Roman" panose="02020603050405020304" pitchFamily="18" charset="0"/>
              </a:rPr>
              <a:t> spectrograms from audio files.</a:t>
            </a:r>
          </a:p>
          <a:p>
            <a:pPr marL="0" indent="0" algn="just">
              <a:lnSpc>
                <a:spcPct val="150000"/>
              </a:lnSpc>
              <a:buFont typeface="Arial" panose="020B0604020202020204" pitchFamily="34" charset="0"/>
              <a:buNone/>
            </a:pPr>
            <a:r>
              <a:rPr lang="en-US" b="1" dirty="0" err="1">
                <a:latin typeface="Times New Roman" panose="02020603050405020304" pitchFamily="18" charset="0"/>
                <a:cs typeface="Times New Roman" panose="02020603050405020304" pitchFamily="18" charset="0"/>
              </a:rPr>
              <a:t>SpeechRecognition</a:t>
            </a:r>
            <a:r>
              <a:rPr lang="en-US" dirty="0">
                <a:latin typeface="Times New Roman" panose="02020603050405020304" pitchFamily="18" charset="0"/>
                <a:cs typeface="Times New Roman" panose="02020603050405020304" pitchFamily="18" charset="0"/>
              </a:rPr>
              <a:t>: For converting speech into text. This library interfaces with various APIs for transcription capabilities.</a:t>
            </a:r>
          </a:p>
          <a:p>
            <a:pPr marL="0" indent="0" algn="just">
              <a:lnSpc>
                <a:spcPct val="150000"/>
              </a:lnSpc>
              <a:buFont typeface="Arial" panose="020B0604020202020204" pitchFamily="34" charset="0"/>
              <a:buNone/>
            </a:pPr>
            <a:r>
              <a:rPr lang="en-US" b="1" dirty="0">
                <a:latin typeface="Times New Roman" panose="02020603050405020304" pitchFamily="18" charset="0"/>
                <a:cs typeface="Times New Roman" panose="02020603050405020304" pitchFamily="18" charset="0"/>
              </a:rPr>
              <a:t>Matplotlib</a:t>
            </a:r>
            <a:r>
              <a:rPr lang="en-US" dirty="0">
                <a:latin typeface="Times New Roman" panose="02020603050405020304" pitchFamily="18" charset="0"/>
                <a:cs typeface="Times New Roman" panose="02020603050405020304" pitchFamily="18" charset="0"/>
              </a:rPr>
              <a:t>: For data visualization. It is used to create plots and graphs for analyzing model performance and emotional trends.</a:t>
            </a:r>
          </a:p>
          <a:p>
            <a:pPr marL="0" indent="0" algn="just">
              <a:lnSpc>
                <a:spcPct val="150000"/>
              </a:lnSpc>
              <a:buFont typeface="Arial" panose="020B0604020202020204" pitchFamily="34" charset="0"/>
              <a:buNone/>
            </a:pPr>
            <a:r>
              <a:rPr lang="en-US" b="1" dirty="0" err="1">
                <a:latin typeface="Times New Roman" panose="02020603050405020304" pitchFamily="18" charset="0"/>
                <a:cs typeface="Times New Roman" panose="02020603050405020304" pitchFamily="18" charset="0"/>
              </a:rPr>
              <a:t>Tkinter</a:t>
            </a:r>
            <a:r>
              <a:rPr lang="en-US" dirty="0">
                <a:latin typeface="Times New Roman" panose="02020603050405020304" pitchFamily="18" charset="0"/>
                <a:cs typeface="Times New Roman" panose="02020603050405020304" pitchFamily="18" charset="0"/>
              </a:rPr>
              <a:t>: For creating the graphical user interface (GUI) of the application, allowing user interaction with the system.</a:t>
            </a:r>
          </a:p>
          <a:p>
            <a:pPr marL="0" indent="0" algn="just">
              <a:lnSpc>
                <a:spcPct val="150000"/>
              </a:lnSpc>
              <a:buFont typeface="Arial" panose="020B0604020202020204" pitchFamily="34" charset="0"/>
              <a:buNone/>
            </a:pPr>
            <a:r>
              <a:rPr lang="en-US" b="1" dirty="0">
                <a:latin typeface="Times New Roman" panose="02020603050405020304" pitchFamily="18" charset="0"/>
                <a:cs typeface="Times New Roman" panose="02020603050405020304" pitchFamily="18" charset="0"/>
              </a:rPr>
              <a:t>Operating System </a:t>
            </a:r>
            <a:r>
              <a:rPr lang="en-US" dirty="0">
                <a:latin typeface="Times New Roman" panose="02020603050405020304" pitchFamily="18" charset="0"/>
                <a:cs typeface="Times New Roman" panose="02020603050405020304" pitchFamily="18" charset="0"/>
              </a:rPr>
              <a:t>: Compatible with Windows, macOS, or Linux (any OS that supports Python 3.x)</a:t>
            </a:r>
          </a:p>
          <a:p>
            <a:pPr marL="0" indent="0" algn="just">
              <a:lnSpc>
                <a:spcPct val="150000"/>
              </a:lnSpc>
              <a:buFont typeface="Arial" panose="020B0604020202020204" pitchFamily="34" charset="0"/>
              <a:buNone/>
            </a:pPr>
            <a:r>
              <a:rPr lang="en-US" b="1" dirty="0">
                <a:latin typeface="Times New Roman" panose="02020603050405020304" pitchFamily="18" charset="0"/>
                <a:cs typeface="Times New Roman" panose="02020603050405020304" pitchFamily="18" charset="0"/>
              </a:rPr>
              <a:t>IDEs or Code Editors </a:t>
            </a:r>
            <a:r>
              <a:rPr lang="en-US" dirty="0">
                <a:latin typeface="Times New Roman" panose="02020603050405020304" pitchFamily="18" charset="0"/>
                <a:cs typeface="Times New Roman" panose="02020603050405020304" pitchFamily="18" charset="0"/>
              </a:rPr>
              <a:t>: Such as PyCharm, Visual Studio Code, or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for writing and testing the code. </a:t>
            </a:r>
          </a:p>
          <a:p>
            <a:pPr lvl="1"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altLang="en-US" b="1" dirty="0">
              <a:latin typeface="Arial" panose="020B0604020202020204" pitchFamily="34" charset="0"/>
            </a:endParaRPr>
          </a:p>
          <a:p>
            <a:pPr lvl="1" eaLnBrk="0" fontAlgn="base" hangingPunct="0">
              <a:spcBef>
                <a:spcPct val="0"/>
              </a:spcBef>
              <a:spcAft>
                <a:spcPct val="0"/>
              </a:spcAft>
            </a:pPr>
            <a:endParaRPr kumimoji="0" lang="en-US" altLang="en-US" b="1"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endParaRPr lang="en-US" altLang="en-US" b="1" dirty="0">
              <a:latin typeface="Arial" panose="020B0604020202020204" pitchFamily="34" charset="0"/>
            </a:endParaRPr>
          </a:p>
          <a:p>
            <a:pPr lvl="1" eaLnBrk="0" fontAlgn="base" hangingPunct="0">
              <a:spcBef>
                <a:spcPct val="0"/>
              </a:spcBef>
              <a:spcAft>
                <a:spcPct val="0"/>
              </a:spcAft>
            </a:pPr>
            <a:endParaRPr kumimoji="0" lang="en-US" altLang="en-US" b="1"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endParaRPr lang="en-US" altLang="en-US" b="1" dirty="0">
              <a:latin typeface="Arial" panose="020B0604020202020204" pitchFamily="34" charset="0"/>
            </a:endParaRPr>
          </a:p>
          <a:p>
            <a:pPr lvl="1" eaLnBrk="0" fontAlgn="base" hangingPunct="0">
              <a:spcBef>
                <a:spcPct val="0"/>
              </a:spcBef>
              <a:spcAft>
                <a:spcPct val="0"/>
              </a:spcAft>
            </a:pPr>
            <a:endParaRPr kumimoji="0" lang="en-US" altLang="en-US" b="1"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pPr>
            <a:endParaRPr kumimoji="0" lang="en-US" altLang="en-US" b="1" i="0" u="none" strike="noStrike" cap="none" normalizeH="0" baseline="0" dirty="0">
              <a:ln>
                <a:noFill/>
              </a:ln>
              <a:solidFill>
                <a:schemeClr val="tx1"/>
              </a:solidFill>
              <a:effectLst/>
              <a:latin typeface="Arial" panose="020B0604020202020204" pitchFamily="34" charset="0"/>
            </a:endParaRPr>
          </a:p>
        </p:txBody>
      </p:sp>
      <p:sp>
        <p:nvSpPr>
          <p:cNvPr id="4" name="object 2">
            <a:extLst>
              <a:ext uri="{FF2B5EF4-FFF2-40B4-BE49-F238E27FC236}">
                <a16:creationId xmlns:a16="http://schemas.microsoft.com/office/drawing/2014/main" id="{DCECB2A9-061C-A2A8-A467-4F2B08523E73}"/>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3669513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153839" y="334453"/>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62ED4889-BFA9-FFAB-82ED-279E399266DB}"/>
              </a:ext>
            </a:extLst>
          </p:cNvPr>
          <p:cNvSpPr>
            <a:spLocks noChangeArrowheads="1"/>
          </p:cNvSpPr>
          <p:nvPr/>
        </p:nvSpPr>
        <p:spPr bwMode="auto">
          <a:xfrm>
            <a:off x="301905" y="956578"/>
            <a:ext cx="11724125" cy="9879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2300" b="1" dirty="0">
                <a:solidFill>
                  <a:srgbClr val="002060"/>
                </a:solidFill>
                <a:latin typeface="Times New Roman" panose="02020603050405020304" pitchFamily="18" charset="0"/>
                <a:cs typeface="Times New Roman" panose="02020603050405020304" pitchFamily="18" charset="0"/>
              </a:rPr>
              <a:t>5.1 </a:t>
            </a:r>
            <a:r>
              <a:rPr lang="en-US" sz="2300" b="1" dirty="0">
                <a:solidFill>
                  <a:srgbClr val="002060"/>
                </a:solidFill>
                <a:latin typeface="Times New Roman" panose="02020603050405020304" pitchFamily="18" charset="0"/>
                <a:cs typeface="Times New Roman" panose="02020603050405020304" pitchFamily="18" charset="0"/>
              </a:rPr>
              <a:t> Literature Survey</a:t>
            </a:r>
          </a:p>
          <a:p>
            <a:pPr algn="just" eaLnBrk="0" fontAlgn="base" hangingPunct="0">
              <a:lnSpc>
                <a:spcPct val="150000"/>
              </a:lnSpc>
              <a:spcBef>
                <a:spcPct val="0"/>
              </a:spcBef>
              <a:spcAft>
                <a:spcPct val="0"/>
              </a:spcAft>
            </a:pPr>
            <a:r>
              <a:rPr lang="en-US" sz="1700" dirty="0">
                <a:latin typeface="Times New Roman" panose="02020603050405020304" pitchFamily="18" charset="0"/>
                <a:cs typeface="Times New Roman" panose="02020603050405020304" pitchFamily="18" charset="0"/>
              </a:rPr>
              <a:t>The literature on Speech Emotion Recognition (SER) encompasses a variety of approaches, techniques, and applications aimed at enhancing the accuracy and reliability of emotion detection from vocal inputs. Many studies highlight the importance of feature extraction methods, with research by S. K. Saha et al. (2020) focusing on acoustic features such as pitch, energy, and speech rate, which are pivotal in distinguishing between different emotional states. The use of machine learning algorithms, particularly Support Vector Machines (SVM) and Random Forests, has been prevalent in recent works due to their effectiveness in classifying emotions based on extracted features. For instance, a study by K. R. Mohan et al. (2021) demonstrated that ensemble methods significantly improved classification performance by combining predictions from multiple algorithms, thereby reducing the risk of overfitting.</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algn="just" eaLnBrk="0" fontAlgn="base" hangingPunct="0">
              <a:lnSpc>
                <a:spcPct val="150000"/>
              </a:lnSpc>
              <a:spcBef>
                <a:spcPct val="0"/>
              </a:spcBef>
              <a:spcAft>
                <a:spcPct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El </a:t>
            </a:r>
            <a:r>
              <a:rPr lang="en-US" sz="1700" dirty="0" err="1">
                <a:effectLst/>
                <a:latin typeface="Times New Roman" panose="02020603050405020304" pitchFamily="18" charset="0"/>
                <a:ea typeface="Times New Roman" panose="02020603050405020304" pitchFamily="18" charset="0"/>
                <a:cs typeface="Times New Roman" panose="02020603050405020304" pitchFamily="18" charset="0"/>
              </a:rPr>
              <a:t>Ayadi</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 et al. (2011) provided an extensive survey of SER techniques, focusing on both classical and advanced classification models like Gaussian Mixture Models (GMM), SVM, and Neural Networks. They analyzed various emotional datasets, highlighting the need for diverse, multilingual datasets to improve the generalizability of SER systems. Their work emphasized the importance of feature selection in improving model accuracy, contributing insights that are instrumental for systems designed to handle varied linguistic and acoustic inputs.</a:t>
            </a:r>
            <a:endParaRPr lang="en-IN"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endParaRPr lang="en-US" sz="1600" dirty="0"/>
          </a:p>
          <a:p>
            <a:pPr marL="285750" indent="-285750" algn="just" eaLnBrk="0" fontAlgn="base" hangingPunct="0">
              <a:lnSpc>
                <a:spcPct val="150000"/>
              </a:lnSpc>
              <a:spcBef>
                <a:spcPct val="0"/>
              </a:spcBef>
              <a:spcAft>
                <a:spcPct val="0"/>
              </a:spcAft>
              <a:buFont typeface="Arial" panose="020B0604020202020204" pitchFamily="34" charset="0"/>
              <a:buChar char="•"/>
            </a:pPr>
            <a:endParaRPr lang="en-US" sz="1600" b="1" dirty="0">
              <a:solidFill>
                <a:srgbClr val="002060"/>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IN" sz="2300" b="1" dirty="0">
              <a:solidFill>
                <a:srgbClr val="00206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Arial" panose="020B0604020202020204" pitchFamily="34" charset="0"/>
              <a:cs typeface="Times New Roman" panose="02020603050405020304" pitchFamily="18" charset="0"/>
            </a:endParaRPr>
          </a:p>
          <a:p>
            <a:pPr algn="just" eaLnBrk="0" fontAlgn="base" hangingPunct="0">
              <a:spcBef>
                <a:spcPct val="0"/>
              </a:spcBef>
              <a:spcAft>
                <a:spcPct val="0"/>
              </a:spcAft>
            </a:pPr>
            <a:endParaRPr lang="en-US" sz="20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4F37A4C4-B3F9-53C5-43C0-44F4E81F999A}"/>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904335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144601" y="131253"/>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62ED4889-BFA9-FFAB-82ED-279E399266DB}"/>
              </a:ext>
            </a:extLst>
          </p:cNvPr>
          <p:cNvSpPr>
            <a:spLocks noChangeArrowheads="1"/>
          </p:cNvSpPr>
          <p:nvPr/>
        </p:nvSpPr>
        <p:spPr bwMode="auto">
          <a:xfrm>
            <a:off x="203484" y="946189"/>
            <a:ext cx="11841018" cy="7932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IN" sz="2300" b="1" dirty="0">
                <a:solidFill>
                  <a:srgbClr val="002060"/>
                </a:solidFill>
                <a:latin typeface="Times New Roman" panose="02020603050405020304" pitchFamily="18" charset="0"/>
                <a:cs typeface="Times New Roman" panose="02020603050405020304" pitchFamily="18" charset="0"/>
              </a:rPr>
              <a:t>5.2 </a:t>
            </a:r>
            <a:r>
              <a:rPr lang="en-US" sz="2300" b="1" dirty="0">
                <a:solidFill>
                  <a:srgbClr val="002060"/>
                </a:solidFill>
                <a:latin typeface="Times New Roman" panose="02020603050405020304" pitchFamily="18" charset="0"/>
                <a:cs typeface="Times New Roman" panose="02020603050405020304" pitchFamily="18" charset="0"/>
              </a:rPr>
              <a:t>Existing System </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r>
              <a:rPr lang="en-US" sz="20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This existing system explores emotion recognition in speech without employing spectrogram analysis or live voice input. Instead, it focuses on utilizing traditional feature extraction methods that analyze pre-recorded speech samples to identify emotional states. The system uses a Gaussian Mixture Model (GMM) for classification, a technique that allows for modeling the underlying distribution of the feature space for each emotion category.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1600" b="1" dirty="0">
                <a:latin typeface="Times New Roman" panose="02020603050405020304" pitchFamily="18" charset="0"/>
                <a:cs typeface="Times New Roman" panose="02020603050405020304" pitchFamily="18" charset="0"/>
              </a:rPr>
              <a:t>Classification Technique</a:t>
            </a:r>
            <a:r>
              <a:rPr lang="en-US" sz="1600" dirty="0">
                <a:latin typeface="Times New Roman" panose="02020603050405020304" pitchFamily="18" charset="0"/>
                <a:cs typeface="Times New Roman" panose="02020603050405020304" pitchFamily="18" charset="0"/>
              </a:rPr>
              <a:t>: The system utilizes a Gaussian Mixture Model (GMM) for classifying emotional states, which models the underlying distribution of the feature space for each emotion category.</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Traditional Feature Extraction Methods</a:t>
            </a:r>
            <a:r>
              <a:rPr lang="en-US" sz="1600" dirty="0">
                <a:latin typeface="Times New Roman" panose="02020603050405020304" pitchFamily="18" charset="0"/>
                <a:cs typeface="Times New Roman" panose="02020603050405020304" pitchFamily="18" charset="0"/>
              </a:rPr>
              <a:t>: The system employs basic temporal and spectral features, such as: Fundamental frequency (F0) Energy levels Speech rate.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1600" b="1" dirty="0">
                <a:latin typeface="Times New Roman" panose="02020603050405020304" pitchFamily="18" charset="0"/>
                <a:cs typeface="Times New Roman" panose="02020603050405020304" pitchFamily="18" charset="0"/>
              </a:rPr>
              <a:t>Limitations in Nuanced Emotion Detection</a:t>
            </a:r>
            <a:r>
              <a:rPr lang="en-US" sz="1600" dirty="0">
                <a:latin typeface="Times New Roman" panose="02020603050405020304" pitchFamily="18" charset="0"/>
                <a:cs typeface="Times New Roman" panose="02020603050405020304" pitchFamily="18" charset="0"/>
              </a:rPr>
              <a:t>: The absence of advanced methods like spectrogram analysis restricts the system's ability to capture complex emotional expressions.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1600" b="1" dirty="0">
                <a:latin typeface="Times New Roman" panose="02020603050405020304" pitchFamily="18" charset="0"/>
                <a:cs typeface="Times New Roman" panose="02020603050405020304" pitchFamily="18" charset="0"/>
              </a:rPr>
              <a:t>Focus on Pre-recorded Speech Samples</a:t>
            </a:r>
            <a:r>
              <a:rPr lang="en-US" sz="1600" dirty="0">
                <a:latin typeface="Times New Roman" panose="02020603050405020304" pitchFamily="18" charset="0"/>
                <a:cs typeface="Times New Roman" panose="02020603050405020304" pitchFamily="18" charset="0"/>
              </a:rPr>
              <a:t>: The system analyzes pre-recorded audio rather than live voice input, limiting its real-time application.</a:t>
            </a:r>
          </a:p>
          <a:p>
            <a:pPr marL="0" marR="0" lvl="0" indent="0" algn="just" defTabSz="914400" rtl="0" eaLnBrk="0" fontAlgn="base" latinLnBrk="0" hangingPunct="0">
              <a:lnSpc>
                <a:spcPct val="100000"/>
              </a:lnSpc>
              <a:spcBef>
                <a:spcPct val="0"/>
              </a:spcBef>
              <a:spcAft>
                <a:spcPct val="0"/>
              </a:spcAft>
              <a:buClrTx/>
              <a:buSzTx/>
              <a:tabLst/>
            </a:pPr>
            <a:endParaRPr lang="en-US" altLang="en-US" sz="20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algn="just" eaLnBrk="0" fontAlgn="base" hangingPunct="0">
              <a:spcBef>
                <a:spcPct val="0"/>
              </a:spcBef>
              <a:spcAft>
                <a:spcPct val="0"/>
              </a:spcAft>
            </a:pPr>
            <a:r>
              <a:rPr lang="en-US" altLang="en-US" dirty="0">
                <a:latin typeface="Arial" panose="020B0604020202020204" pitchFamily="34" charset="0"/>
              </a:rPr>
              <a:t>	</a:t>
            </a:r>
            <a:r>
              <a:rPr lang="en-US" sz="2000" b="1" dirty="0">
                <a:solidFill>
                  <a:srgbClr val="002060"/>
                </a:solidFill>
                <a:latin typeface="Times New Roman" panose="02020603050405020304" pitchFamily="18" charset="0"/>
                <a:cs typeface="Times New Roman" panose="02020603050405020304" pitchFamily="18" charset="0"/>
              </a:rPr>
              <a:t>	</a:t>
            </a:r>
            <a:endParaRPr lang="en-IN" sz="2000" b="1" dirty="0">
              <a:solidFill>
                <a:srgbClr val="002060"/>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lang="en-US" altLang="en-US" sz="2300" b="1" dirty="0">
                <a:latin typeface="Arial" panose="020B0604020202020204" pitchFamily="34" charset="0"/>
              </a:rPr>
              <a:t> </a:t>
            </a:r>
          </a:p>
        </p:txBody>
      </p:sp>
      <p:sp>
        <p:nvSpPr>
          <p:cNvPr id="4" name="object 2">
            <a:extLst>
              <a:ext uri="{FF2B5EF4-FFF2-40B4-BE49-F238E27FC236}">
                <a16:creationId xmlns:a16="http://schemas.microsoft.com/office/drawing/2014/main" id="{81F81DAB-6847-472A-225E-F91B78AB8265}"/>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3304446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58638" y="537653"/>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62ED4889-BFA9-FFAB-82ED-279E399266DB}"/>
              </a:ext>
            </a:extLst>
          </p:cNvPr>
          <p:cNvSpPr>
            <a:spLocks noChangeArrowheads="1"/>
          </p:cNvSpPr>
          <p:nvPr/>
        </p:nvSpPr>
        <p:spPr bwMode="auto">
          <a:xfrm>
            <a:off x="403219" y="1094290"/>
            <a:ext cx="11044688" cy="7325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sz="2300" b="1" dirty="0">
                <a:solidFill>
                  <a:srgbClr val="002060"/>
                </a:solidFill>
                <a:latin typeface="Times New Roman" panose="02020603050405020304" pitchFamily="18" charset="0"/>
                <a:cs typeface="Times New Roman" panose="02020603050405020304" pitchFamily="18" charset="0"/>
              </a:rPr>
              <a:t>Limitations of existing system</a:t>
            </a: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Lack of Real-time Processing</a:t>
            </a:r>
            <a:r>
              <a:rPr lang="en-US" sz="1600" dirty="0">
                <a:latin typeface="Times New Roman" panose="02020603050405020304" pitchFamily="18" charset="0"/>
                <a:cs typeface="Times New Roman" panose="02020603050405020304" pitchFamily="18" charset="0"/>
              </a:rPr>
              <a:t>: The system is designed to analyze pre-recorded speech samples, which restricts its applicability in real-time scenarios where immediate emotion detection is required.</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Traditional Feature Extraction Methods</a:t>
            </a:r>
            <a:r>
              <a:rPr lang="en-US" sz="1600" dirty="0">
                <a:latin typeface="Times New Roman" panose="02020603050405020304" pitchFamily="18" charset="0"/>
                <a:cs typeface="Times New Roman" panose="02020603050405020304" pitchFamily="18" charset="0"/>
              </a:rPr>
              <a:t>: The reliance on basic temporal and spectral features means the system may miss more subtle and complex emotional cues that advanced techniques, such as spectrogram analysis, could reveal.</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Dependence on Statistical Models</a:t>
            </a:r>
            <a:r>
              <a:rPr lang="en-US" sz="1600" dirty="0">
                <a:latin typeface="Times New Roman" panose="02020603050405020304" pitchFamily="18" charset="0"/>
                <a:cs typeface="Times New Roman" panose="02020603050405020304" pitchFamily="18" charset="0"/>
              </a:rPr>
              <a:t>: The use of Gaussian Mixture Models (GMM) may not effectively capture all emotional nuances, as emotional expressions can be highly variable and complex.</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Limited Scalability</a:t>
            </a:r>
            <a:r>
              <a:rPr lang="en-US" sz="1600" dirty="0">
                <a:latin typeface="Times New Roman" panose="02020603050405020304" pitchFamily="18" charset="0"/>
                <a:cs typeface="Times New Roman" panose="02020603050405020304" pitchFamily="18" charset="0"/>
              </a:rPr>
              <a:t>: The system’s reliance on traditional feature sets may hinder its scalability to more advanced or diverse datasets that require deeper analysis and feature extraction.</a:t>
            </a: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User Interaction Constraints</a:t>
            </a:r>
            <a:r>
              <a:rPr lang="en-US" sz="1600" dirty="0">
                <a:latin typeface="Times New Roman" panose="02020603050405020304" pitchFamily="18" charset="0"/>
                <a:cs typeface="Times New Roman" panose="02020603050405020304" pitchFamily="18" charset="0"/>
              </a:rPr>
              <a:t>: Without a GUI, users may find it challenging to interact with the system effectively, as there are no visual elements to guide them through the process of inputting data or interpreting results.</a:t>
            </a: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305EBC9E-259A-E5AB-9C73-F81383985B52}"/>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1681650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218493" y="279034"/>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667F8B2-6C67-9F16-2F74-4055A357D8A7}"/>
              </a:ext>
            </a:extLst>
          </p:cNvPr>
          <p:cNvSpPr>
            <a:spLocks noChangeArrowheads="1"/>
          </p:cNvSpPr>
          <p:nvPr/>
        </p:nvSpPr>
        <p:spPr bwMode="auto">
          <a:xfrm>
            <a:off x="221672" y="1456158"/>
            <a:ext cx="11831782" cy="4464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2300" b="1" kern="1200" dirty="0">
                <a:solidFill>
                  <a:srgbClr val="002060"/>
                </a:solidFill>
                <a:effectLst/>
                <a:latin typeface="Times New Roman" panose="02020603050405020304" pitchFamily="18" charset="0"/>
                <a:cs typeface="Times New Roman" panose="02020603050405020304" pitchFamily="18" charset="0"/>
              </a:rPr>
              <a:t>5.3 </a:t>
            </a:r>
            <a:r>
              <a:rPr lang="en-US" sz="2300" b="1" kern="1200" dirty="0">
                <a:solidFill>
                  <a:srgbClr val="002060"/>
                </a:solidFill>
                <a:effectLst/>
                <a:latin typeface="Times New Roman" panose="02020603050405020304" pitchFamily="18" charset="0"/>
                <a:cs typeface="Times New Roman" panose="02020603050405020304" pitchFamily="18" charset="0"/>
              </a:rPr>
              <a:t>Proposed</a:t>
            </a:r>
            <a:r>
              <a:rPr lang="en-IN" sz="2300" b="1" kern="1200" dirty="0">
                <a:solidFill>
                  <a:srgbClr val="002060"/>
                </a:solidFill>
                <a:effectLst/>
                <a:latin typeface="Times New Roman" panose="02020603050405020304" pitchFamily="18" charset="0"/>
                <a:cs typeface="Times New Roman" panose="02020603050405020304" pitchFamily="18" charset="0"/>
              </a:rPr>
              <a:t> </a:t>
            </a:r>
            <a:r>
              <a:rPr lang="en-US" sz="2300" b="1" kern="1200" dirty="0">
                <a:solidFill>
                  <a:srgbClr val="002060"/>
                </a:solidFill>
                <a:effectLst/>
                <a:latin typeface="Times New Roman" panose="02020603050405020304" pitchFamily="18" charset="0"/>
                <a:cs typeface="Times New Roman" panose="02020603050405020304" pitchFamily="18" charset="0"/>
              </a:rPr>
              <a:t>System </a:t>
            </a:r>
            <a:endParaRPr lang="en-US" sz="1600" dirty="0"/>
          </a:p>
          <a:p>
            <a:pPr>
              <a:lnSpc>
                <a:spcPct val="150000"/>
              </a:lnSpc>
            </a:pPr>
            <a:r>
              <a:rPr lang="en-US" sz="1600" dirty="0">
                <a:latin typeface="Times New Roman" panose="02020603050405020304" pitchFamily="18" charset="0"/>
                <a:cs typeface="Times New Roman" panose="02020603050405020304" pitchFamily="18" charset="0"/>
              </a:rPr>
              <a:t>The proposed Speech Emotion Recognition (SER) system aims to create an advanced machine learning framework capable of accurately detecting and classifying emotions from live voice input.</a:t>
            </a:r>
          </a:p>
          <a:p>
            <a:pPr algn="just">
              <a:lnSpc>
                <a:spcPct val="150000"/>
              </a:lnSpc>
            </a:pPr>
            <a:r>
              <a:rPr lang="en-US" sz="1600" b="1" dirty="0">
                <a:latin typeface="Times New Roman" panose="02020603050405020304" pitchFamily="18" charset="0"/>
                <a:cs typeface="Times New Roman" panose="02020603050405020304" pitchFamily="18" charset="0"/>
              </a:rPr>
              <a:t>Real-Time Emotion Recognition</a:t>
            </a:r>
            <a:r>
              <a:rPr lang="en-US" sz="1600" dirty="0">
                <a:latin typeface="Times New Roman" panose="02020603050405020304" pitchFamily="18" charset="0"/>
                <a:cs typeface="Times New Roman" panose="02020603050405020304" pitchFamily="18" charset="0"/>
              </a:rPr>
              <a:t>: The system is designed to analyze and classify emotions from live voice input, allowing for immediate feedback and interaction, which enhances the user experience.</a:t>
            </a:r>
          </a:p>
          <a:p>
            <a:pPr algn="just">
              <a:lnSpc>
                <a:spcPct val="150000"/>
              </a:lnSpc>
            </a:pPr>
            <a:r>
              <a:rPr lang="en-US" sz="1600" b="1" dirty="0">
                <a:latin typeface="Times New Roman" panose="02020603050405020304" pitchFamily="18" charset="0"/>
                <a:cs typeface="Times New Roman" panose="02020603050405020304" pitchFamily="18" charset="0"/>
              </a:rPr>
              <a:t>Multiple Machine Learning Algorithms</a:t>
            </a:r>
            <a:r>
              <a:rPr lang="en-US" sz="1600" dirty="0">
                <a:latin typeface="Times New Roman" panose="02020603050405020304" pitchFamily="18" charset="0"/>
                <a:cs typeface="Times New Roman" panose="02020603050405020304" pitchFamily="18" charset="0"/>
              </a:rPr>
              <a:t>: The proposed system employs a combination of machine learning algorithms, such as Support Vector Machines (SVM), Random Forest, and Naive Bayes, to improve classification accuracy and robustness.</a:t>
            </a:r>
          </a:p>
          <a:p>
            <a:pPr algn="just">
              <a:lnSpc>
                <a:spcPct val="150000"/>
              </a:lnSpc>
            </a:pPr>
            <a:r>
              <a:rPr lang="en-US" sz="1600" b="1" dirty="0">
                <a:latin typeface="Times New Roman" panose="02020603050405020304" pitchFamily="18" charset="0"/>
                <a:cs typeface="Times New Roman" panose="02020603050405020304" pitchFamily="18" charset="0"/>
              </a:rPr>
              <a:t>Transcription Capabilities</a:t>
            </a:r>
            <a:r>
              <a:rPr lang="en-US" sz="1600" dirty="0">
                <a:latin typeface="Times New Roman" panose="02020603050405020304" pitchFamily="18" charset="0"/>
                <a:cs typeface="Times New Roman" panose="02020603050405020304" pitchFamily="18" charset="0"/>
              </a:rPr>
              <a:t>: In addition to emotion classification, the system can transcribe spoken content, providing a comprehensive view of both verbal and emotional communication.</a:t>
            </a:r>
          </a:p>
          <a:p>
            <a:pPr algn="just">
              <a:lnSpc>
                <a:spcPct val="150000"/>
              </a:lnSpc>
            </a:pPr>
            <a:r>
              <a:rPr lang="en-US" sz="1600" b="1" dirty="0">
                <a:latin typeface="Times New Roman" panose="02020603050405020304" pitchFamily="18" charset="0"/>
                <a:cs typeface="Times New Roman" panose="02020603050405020304" pitchFamily="18" charset="0"/>
              </a:rPr>
              <a:t>User-Friendly Interface</a:t>
            </a:r>
            <a:r>
              <a:rPr lang="en-US" sz="1600" dirty="0">
                <a:latin typeface="Times New Roman" panose="02020603050405020304" pitchFamily="18" charset="0"/>
                <a:cs typeface="Times New Roman" panose="02020603050405020304" pitchFamily="18" charset="0"/>
              </a:rPr>
              <a:t>: A well-designed graphical user interface (GUI) facilitates easy interaction with the system, making it accessible to users with varying technical expertise.</a:t>
            </a: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0A608B48-A29C-2671-096C-2E67393B549D}"/>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2515585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264674" y="417580"/>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667F8B2-6C67-9F16-2F74-4055A357D8A7}"/>
              </a:ext>
            </a:extLst>
          </p:cNvPr>
          <p:cNvSpPr>
            <a:spLocks noChangeArrowheads="1"/>
          </p:cNvSpPr>
          <p:nvPr/>
        </p:nvSpPr>
        <p:spPr bwMode="auto">
          <a:xfrm>
            <a:off x="449402" y="1033747"/>
            <a:ext cx="11378242" cy="7855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2300" b="1" kern="1200" dirty="0">
                <a:solidFill>
                  <a:srgbClr val="002060"/>
                </a:solidFill>
                <a:effectLst/>
                <a:latin typeface="Times New Roman" panose="02020603050405020304" pitchFamily="18" charset="0"/>
                <a:cs typeface="Times New Roman" panose="02020603050405020304" pitchFamily="18" charset="0"/>
              </a:rPr>
              <a:t>5.3 </a:t>
            </a:r>
            <a:r>
              <a:rPr lang="en-US" sz="2300" b="1" kern="1200" dirty="0">
                <a:solidFill>
                  <a:srgbClr val="002060"/>
                </a:solidFill>
                <a:effectLst/>
                <a:latin typeface="Times New Roman" panose="02020603050405020304" pitchFamily="18" charset="0"/>
                <a:cs typeface="Times New Roman" panose="02020603050405020304" pitchFamily="18" charset="0"/>
              </a:rPr>
              <a:t>Proposed</a:t>
            </a:r>
            <a:r>
              <a:rPr lang="en-IN" sz="2300" b="1" kern="1200" dirty="0">
                <a:solidFill>
                  <a:srgbClr val="002060"/>
                </a:solidFill>
                <a:effectLst/>
                <a:latin typeface="Times New Roman" panose="02020603050405020304" pitchFamily="18" charset="0"/>
                <a:cs typeface="Times New Roman" panose="02020603050405020304" pitchFamily="18" charset="0"/>
              </a:rPr>
              <a:t> </a:t>
            </a:r>
            <a:r>
              <a:rPr lang="en-US" sz="2300" b="1" kern="1200" dirty="0">
                <a:solidFill>
                  <a:srgbClr val="002060"/>
                </a:solidFill>
                <a:effectLst/>
                <a:latin typeface="Times New Roman" panose="02020603050405020304" pitchFamily="18" charset="0"/>
                <a:cs typeface="Times New Roman" panose="02020603050405020304" pitchFamily="18" charset="0"/>
              </a:rPr>
              <a:t>System </a:t>
            </a:r>
          </a:p>
          <a:p>
            <a:pPr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300" b="1" dirty="0">
                <a:solidFill>
                  <a:srgbClr val="002060"/>
                </a:solidFill>
                <a:latin typeface="Times New Roman" panose="02020603050405020304" pitchFamily="18" charset="0"/>
                <a:cs typeface="Times New Roman" panose="02020603050405020304" pitchFamily="18" charset="0"/>
              </a:rPr>
              <a:t>Advantages of proposed system</a:t>
            </a:r>
          </a:p>
          <a:p>
            <a:pPr algn="just"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marL="342900" indent="-34290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Instantaneous Emotion Recognition</a:t>
            </a:r>
            <a:r>
              <a:rPr lang="en-US" sz="1600" dirty="0">
                <a:latin typeface="Times New Roman" panose="02020603050405020304" pitchFamily="18" charset="0"/>
                <a:cs typeface="Times New Roman" panose="02020603050405020304" pitchFamily="18" charset="0"/>
              </a:rPr>
              <a:t>: The system's ability to analyze live voice input enables immediate detection of emotional states, allowing for timely and context-aware responses during interactions.</a:t>
            </a:r>
          </a:p>
          <a:p>
            <a:pPr marL="342900" indent="-34290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Improved Predictive Accuracy</a:t>
            </a:r>
            <a:r>
              <a:rPr lang="en-US" sz="1600" dirty="0">
                <a:latin typeface="Times New Roman" panose="02020603050405020304" pitchFamily="18" charset="0"/>
                <a:cs typeface="Times New Roman" panose="02020603050405020304" pitchFamily="18" charset="0"/>
              </a:rPr>
              <a:t>: The use of ensemble learning techniques combines the strengths of various models, resulting in improved predictive performance and reduced risk of overfitting, leading to better generalization on unseen data</a:t>
            </a:r>
          </a:p>
          <a:p>
            <a:pPr marL="342900" indent="-34290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Scalability for Future Enhancements</a:t>
            </a:r>
            <a:r>
              <a:rPr lang="en-US" sz="1600" dirty="0">
                <a:latin typeface="Times New Roman" panose="02020603050405020304" pitchFamily="18" charset="0"/>
                <a:cs typeface="Times New Roman" panose="02020603050405020304" pitchFamily="18" charset="0"/>
              </a:rPr>
              <a:t>: The architecture of the system is designed to be scalable, enabling future improvements and integrations with emerging technologies, such as deep learning methods and additional emotional categories.</a:t>
            </a:r>
          </a:p>
          <a:p>
            <a:pPr marL="342900" indent="-34290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Dual Output Functionality</a:t>
            </a:r>
            <a:r>
              <a:rPr lang="en-US" sz="1600" dirty="0">
                <a:latin typeface="Times New Roman" panose="02020603050405020304" pitchFamily="18" charset="0"/>
                <a:cs typeface="Times New Roman" panose="02020603050405020304" pitchFamily="18" charset="0"/>
              </a:rPr>
              <a:t>: The system not only classifies emotions but also provides graphical visualizations of emotional trends and transcriptions of the speech input. </a:t>
            </a:r>
          </a:p>
          <a:p>
            <a:pPr marL="342900" indent="-342900" algn="just" eaLnBrk="0" fontAlgn="base" hangingPunct="0">
              <a:lnSpc>
                <a:spcPct val="150000"/>
              </a:lnSpc>
              <a:spcBef>
                <a:spcPct val="0"/>
              </a:spcBef>
              <a:spcAft>
                <a:spcPct val="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User-Centric Design</a:t>
            </a:r>
            <a:r>
              <a:rPr lang="en-US" sz="1600" dirty="0">
                <a:latin typeface="Times New Roman" panose="02020603050405020304" pitchFamily="18" charset="0"/>
                <a:cs typeface="Times New Roman" panose="02020603050405020304" pitchFamily="18" charset="0"/>
              </a:rPr>
              <a:t>: Featuring an intuitive interface, the system caters to users of varying technical skill levels, promoting ease of use and encouraging adoption across different fields, including customer support and mental health care.</a:t>
            </a:r>
          </a:p>
          <a:p>
            <a:pPr eaLnBrk="0" fontAlgn="base" hangingPunct="0">
              <a:lnSpc>
                <a:spcPct val="150000"/>
              </a:lnSpc>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A8A0F785-2D04-0D1C-C2BA-2C8B7EBEAE56}"/>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4268165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7950A-91AA-AA91-C767-BA17302D7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086C2-CCD5-BC0B-00D7-C9DDE490D4E9}"/>
              </a:ext>
            </a:extLst>
          </p:cNvPr>
          <p:cNvSpPr>
            <a:spLocks noGrp="1"/>
          </p:cNvSpPr>
          <p:nvPr>
            <p:ph type="title"/>
          </p:nvPr>
        </p:nvSpPr>
        <p:spPr>
          <a:xfrm>
            <a:off x="458638" y="537653"/>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FA62278-4BDE-ADAA-8A86-EE882BB42C90}"/>
              </a:ext>
            </a:extLst>
          </p:cNvPr>
          <p:cNvSpPr>
            <a:spLocks noChangeArrowheads="1"/>
          </p:cNvSpPr>
          <p:nvPr/>
        </p:nvSpPr>
        <p:spPr bwMode="auto">
          <a:xfrm>
            <a:off x="624894" y="1562194"/>
            <a:ext cx="11378242" cy="7502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300" b="1" kern="1200" dirty="0">
                <a:solidFill>
                  <a:srgbClr val="002060"/>
                </a:solidFill>
                <a:effectLst/>
                <a:latin typeface="Times New Roman" panose="02020603050405020304" pitchFamily="18" charset="0"/>
                <a:cs typeface="Times New Roman" panose="02020603050405020304" pitchFamily="18" charset="0"/>
              </a:rPr>
              <a:t> </a:t>
            </a:r>
            <a:r>
              <a:rPr lang="en-US" sz="2300" b="1" dirty="0">
                <a:solidFill>
                  <a:srgbClr val="002060"/>
                </a:solidFill>
                <a:latin typeface="Times New Roman" panose="02020603050405020304" pitchFamily="18" charset="0"/>
                <a:cs typeface="Times New Roman" panose="02020603050405020304" pitchFamily="18" charset="0"/>
              </a:rPr>
              <a:t>Key Features of proposed system</a:t>
            </a:r>
          </a:p>
          <a:p>
            <a:pPr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Real-Time Emotion Detection</a:t>
            </a:r>
            <a:r>
              <a:rPr lang="en-US" sz="1600" dirty="0">
                <a:latin typeface="Times New Roman" panose="02020603050405020304" pitchFamily="18" charset="0"/>
                <a:cs typeface="Times New Roman" panose="02020603050405020304" pitchFamily="18" charset="0"/>
              </a:rPr>
              <a:t>: The system can analyze live voice input to detect emotional states instantly, allowing for immediate responses in various applications</a:t>
            </a:r>
          </a:p>
          <a:p>
            <a:pPr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Speech Transcription</a:t>
            </a:r>
            <a:r>
              <a:rPr lang="en-US" sz="1600" dirty="0">
                <a:latin typeface="Times New Roman" panose="02020603050405020304" pitchFamily="18" charset="0"/>
                <a:cs typeface="Times New Roman" panose="02020603050405020304" pitchFamily="18" charset="0"/>
              </a:rPr>
              <a:t>: The system can transcribe spoken input into text, facilitating a comprehensive understanding of both verbal and emotional content.</a:t>
            </a:r>
          </a:p>
          <a:p>
            <a:pPr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Graphical Visualization</a:t>
            </a:r>
            <a:r>
              <a:rPr lang="en-US" sz="1600" dirty="0">
                <a:latin typeface="Times New Roman" panose="02020603050405020304" pitchFamily="18" charset="0"/>
                <a:cs typeface="Times New Roman" panose="02020603050405020304" pitchFamily="18" charset="0"/>
              </a:rPr>
              <a:t>: Provides visual representations of emotional trends and variations over time, allowing users to grasp emotional dynamics easily.</a:t>
            </a:r>
          </a:p>
          <a:p>
            <a:pPr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User-Friendly Interface</a:t>
            </a:r>
            <a:r>
              <a:rPr lang="en-US" sz="1600" dirty="0">
                <a:latin typeface="Times New Roman" panose="02020603050405020304" pitchFamily="18" charset="0"/>
                <a:cs typeface="Times New Roman" panose="02020603050405020304" pitchFamily="18" charset="0"/>
              </a:rPr>
              <a:t>: Features an intuitive graphical user interface (GUI) that simplifies interaction for users with different technical skills.</a:t>
            </a:r>
          </a:p>
          <a:p>
            <a:pPr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Scalability</a:t>
            </a:r>
            <a:r>
              <a:rPr lang="en-US" sz="1600" dirty="0">
                <a:latin typeface="Times New Roman" panose="02020603050405020304" pitchFamily="18" charset="0"/>
                <a:cs typeface="Times New Roman" panose="02020603050405020304" pitchFamily="18" charset="0"/>
              </a:rPr>
              <a:t>: Built to allow for future enhancements and integrations, including advanced machine learning techniques, increasing its applicability and relevance in evolving technological landscapes.</a:t>
            </a:r>
            <a:endParaRPr lang="en-IN" sz="1600" dirty="0">
              <a:latin typeface="Times New Roman" panose="02020603050405020304" pitchFamily="18" charset="0"/>
              <a:cs typeface="Times New Roman" panose="02020603050405020304" pitchFamily="18" charset="0"/>
            </a:endParaRPr>
          </a:p>
          <a:p>
            <a:pPr lvl="1" algn="just" eaLnBrk="0" fontAlgn="base" hangingPunct="0">
              <a:lnSpc>
                <a:spcPct val="150000"/>
              </a:lnSpc>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lang="en-US" sz="2300" b="1" dirty="0">
                <a:solidFill>
                  <a:srgbClr val="002060"/>
                </a:solidFill>
                <a:latin typeface="Times New Roman" panose="02020603050405020304" pitchFamily="18" charset="0"/>
                <a:cs typeface="Times New Roman" panose="02020603050405020304" pitchFamily="18" charset="0"/>
              </a:rPr>
              <a:t>  </a:t>
            </a: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238FD4F8-1E3C-9970-7DAB-FECD71C41094}"/>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802177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77299" y="500331"/>
            <a:ext cx="5447640" cy="861938"/>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6.</a:t>
            </a:r>
            <a:r>
              <a:rPr lang="en-IN" sz="3600" b="1" spc="-5" dirty="0">
                <a:solidFill>
                  <a:srgbClr val="002060"/>
                </a:solidFill>
                <a:latin typeface="Times New Roman"/>
                <a:cs typeface="Times New Roman"/>
              </a:rPr>
              <a:t>Architectural Design</a:t>
            </a:r>
            <a:br>
              <a:rPr lang="en-US" sz="3600" b="1" dirty="0">
                <a:solidFill>
                  <a:srgbClr val="002060"/>
                </a:solidFill>
              </a:rPr>
            </a:b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667F8B2-6C67-9F16-2F74-4055A357D8A7}"/>
              </a:ext>
            </a:extLst>
          </p:cNvPr>
          <p:cNvSpPr>
            <a:spLocks noChangeArrowheads="1"/>
          </p:cNvSpPr>
          <p:nvPr/>
        </p:nvSpPr>
        <p:spPr bwMode="auto">
          <a:xfrm>
            <a:off x="522260" y="1176146"/>
            <a:ext cx="11378242"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1600" b="1" kern="1200" dirty="0">
                <a:solidFill>
                  <a:srgbClr val="002060"/>
                </a:solidFill>
                <a:effectLst/>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Modules Design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User Interface (UI) Module: </a:t>
            </a:r>
            <a:r>
              <a:rPr lang="en-US" sz="1600" dirty="0">
                <a:latin typeface="Times New Roman" panose="02020603050405020304" pitchFamily="18" charset="0"/>
                <a:cs typeface="Times New Roman" panose="02020603050405020304" pitchFamily="18" charset="0"/>
              </a:rPr>
              <a:t>The UI module serves as the primary interface between the user and the system. Built with </a:t>
            </a:r>
            <a:r>
              <a:rPr lang="en-US" sz="1600" dirty="0" err="1">
                <a:latin typeface="Times New Roman" panose="02020603050405020304" pitchFamily="18" charset="0"/>
                <a:cs typeface="Times New Roman" panose="02020603050405020304" pitchFamily="18" charset="0"/>
              </a:rPr>
              <a:t>Tkinter</a:t>
            </a:r>
            <a:r>
              <a:rPr lang="en-US" sz="1600" dirty="0">
                <a:latin typeface="Times New Roman" panose="02020603050405020304" pitchFamily="18" charset="0"/>
                <a:cs typeface="Times New Roman" panose="02020603050405020304" pitchFamily="18" charset="0"/>
              </a:rPr>
              <a:t> for a desktop GUI, this module provides buttons for uploading audio files and capturing live audio. It displays results, including the predicted emotion and transcribed text, and visualizations such as the audio spectrogram. </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Speech Recognition Module:</a:t>
            </a:r>
            <a:r>
              <a:rPr lang="en-US" sz="1600" dirty="0">
                <a:latin typeface="Times New Roman" panose="02020603050405020304" pitchFamily="18" charset="0"/>
                <a:cs typeface="Times New Roman" panose="02020603050405020304" pitchFamily="18" charset="0"/>
              </a:rPr>
              <a:t>The Speech Recognition module is dedicated to converting audio input into text. It uses the library to process the audio files and transcribe spoken words into written text. This module handles both uploaded files and live audio inputs, providing flexibility in capturing spoken data. </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Training and Evaluation Module: </a:t>
            </a:r>
            <a:r>
              <a:rPr lang="en-US" sz="1600" dirty="0">
                <a:latin typeface="Times New Roman" panose="02020603050405020304" pitchFamily="18" charset="0"/>
                <a:cs typeface="Times New Roman" panose="02020603050405020304" pitchFamily="18" charset="0"/>
              </a:rPr>
              <a:t>The Model Training and Evaluation module is responsible for training the machine learning models used in the Emotion Recognition module. It includes scripts for loading datasets, encoding emotions, splitting data into training and testing sets, and evaluating model performance using accuracy metrics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Live Voice Input Module: </a:t>
            </a:r>
            <a:r>
              <a:rPr lang="en-US" sz="1600" dirty="0">
                <a:latin typeface="Times New Roman" panose="02020603050405020304" pitchFamily="18" charset="0"/>
                <a:cs typeface="Times New Roman" panose="02020603050405020304" pitchFamily="18" charset="0"/>
              </a:rPr>
              <a:t>The Live Voice Input module allows the application to process real-time audio input through a microphone. It captures the user’s voice, normalizes ambient noise, and forwards the live audio stream to both the Speech Recognition and Emotion Recognition modules.</a:t>
            </a:r>
          </a:p>
          <a:p>
            <a:pPr lvl="1" algn="just" eaLnBrk="0" fontAlgn="base" hangingPunct="0">
              <a:lnSpc>
                <a:spcPct val="150000"/>
              </a:lnSpc>
              <a:spcBef>
                <a:spcPct val="0"/>
              </a:spcBef>
              <a:spcAft>
                <a:spcPct val="0"/>
              </a:spcAft>
            </a:pPr>
            <a:endParaRPr lang="en-US" sz="16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lang="en-US" sz="1600" b="1" dirty="0">
                <a:solidFill>
                  <a:srgbClr val="002060"/>
                </a:solidFill>
                <a:latin typeface="Times New Roman" panose="02020603050405020304" pitchFamily="18" charset="0"/>
                <a:cs typeface="Times New Roman" panose="02020603050405020304" pitchFamily="18" charset="0"/>
              </a:rPr>
              <a:t>  </a:t>
            </a:r>
          </a:p>
          <a:p>
            <a:pPr lvl="1" eaLnBrk="0" fontAlgn="base" hangingPunct="0">
              <a:spcBef>
                <a:spcPct val="0"/>
              </a:spcBef>
              <a:spcAft>
                <a:spcPct val="0"/>
              </a:spcAft>
            </a:pPr>
            <a:endParaRPr lang="en-US" sz="16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16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16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16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16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1600" b="1" dirty="0">
              <a:solidFill>
                <a:srgbClr val="002060"/>
              </a:solidFill>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3540E66B-3C54-B42C-2991-6357F6378EB1}"/>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762330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41339-ED5B-2C2C-F0E7-022294495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48D81-BAC3-35EE-13FB-8959335771C8}"/>
              </a:ext>
            </a:extLst>
          </p:cNvPr>
          <p:cNvSpPr>
            <a:spLocks noGrp="1"/>
          </p:cNvSpPr>
          <p:nvPr>
            <p:ph type="title"/>
          </p:nvPr>
        </p:nvSpPr>
        <p:spPr>
          <a:xfrm>
            <a:off x="458637" y="537652"/>
            <a:ext cx="8694693" cy="2756054"/>
          </a:xfrm>
        </p:spPr>
        <p:txBody>
          <a:bodyPr>
            <a:noAutofit/>
          </a:bodyPr>
          <a:lstStyle/>
          <a:p>
            <a:r>
              <a:rPr lang="en-US" sz="3600" b="1" dirty="0">
                <a:solidFill>
                  <a:srgbClr val="002060"/>
                </a:solidFill>
                <a:latin typeface="Times New Roman" panose="02020603050405020304" pitchFamily="18" charset="0"/>
                <a:cs typeface="Times New Roman" panose="02020603050405020304" pitchFamily="18" charset="0"/>
              </a:rPr>
              <a:t>6.Project Architecture:</a:t>
            </a:r>
            <a:br>
              <a:rPr lang="en-US" sz="2000" b="1" dirty="0">
                <a:solidFill>
                  <a:srgbClr val="002060"/>
                </a:solidFill>
                <a:latin typeface="Times New Roman" panose="02020603050405020304" pitchFamily="18" charset="0"/>
                <a:cs typeface="Times New Roman" panose="02020603050405020304" pitchFamily="18" charset="0"/>
              </a:rPr>
            </a:br>
            <a:r>
              <a:rPr lang="en-US" sz="2000" b="1" dirty="0">
                <a:solidFill>
                  <a:srgbClr val="002060"/>
                </a:solidFill>
                <a:latin typeface="Times New Roman" panose="02020603050405020304" pitchFamily="18" charset="0"/>
                <a:cs typeface="Times New Roman" panose="02020603050405020304" pitchFamily="18" charset="0"/>
              </a:rPr>
              <a:t> </a:t>
            </a:r>
            <a:br>
              <a:rPr lang="en-US" sz="2000" b="1" dirty="0">
                <a:solidFill>
                  <a:srgbClr val="002060"/>
                </a:solidFill>
                <a:latin typeface="Times New Roman" panose="02020603050405020304" pitchFamily="18" charset="0"/>
                <a:cs typeface="Times New Roman" panose="02020603050405020304" pitchFamily="18" charset="0"/>
              </a:rPr>
            </a:br>
            <a:r>
              <a:rPr lang="en-US" sz="2000" b="1" dirty="0">
                <a:solidFill>
                  <a:srgbClr val="002060"/>
                </a:solidFill>
                <a:latin typeface="Times New Roman" panose="02020603050405020304" pitchFamily="18" charset="0"/>
                <a:cs typeface="Times New Roman" panose="02020603050405020304" pitchFamily="18" charset="0"/>
              </a:rPr>
              <a:t>Architecture Diagram:</a:t>
            </a:r>
            <a:br>
              <a:rPr lang="en-US" sz="3600" b="1" dirty="0">
                <a:solidFill>
                  <a:srgbClr val="002060"/>
                </a:solidFill>
                <a:latin typeface="Times New Roman" panose="02020603050405020304" pitchFamily="18" charset="0"/>
                <a:cs typeface="Times New Roman" panose="02020603050405020304" pitchFamily="18" charset="0"/>
              </a:rPr>
            </a:br>
            <a:br>
              <a:rPr lang="en-US" sz="3600" b="1" dirty="0">
                <a:solidFill>
                  <a:srgbClr val="002060"/>
                </a:solidFill>
                <a:latin typeface="Times New Roman" panose="02020603050405020304" pitchFamily="18" charset="0"/>
                <a:cs typeface="Times New Roman" panose="02020603050405020304" pitchFamily="18" charset="0"/>
              </a:rPr>
            </a:br>
            <a:br>
              <a:rPr lang="en-US" sz="3600" b="1" dirty="0">
                <a:solidFill>
                  <a:srgbClr val="002060"/>
                </a:solidFill>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B9FC616A-1414-7FBC-F790-B14A389E36DA}"/>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6" name="Picture 5">
            <a:extLst>
              <a:ext uri="{FF2B5EF4-FFF2-40B4-BE49-F238E27FC236}">
                <a16:creationId xmlns:a16="http://schemas.microsoft.com/office/drawing/2014/main" id="{A51678E2-4788-86DA-F090-7DB740FF9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877" y="2036601"/>
            <a:ext cx="8886825" cy="3867150"/>
          </a:xfrm>
          <a:prstGeom prst="rect">
            <a:avLst/>
          </a:prstGeom>
        </p:spPr>
      </p:pic>
    </p:spTree>
    <p:extLst>
      <p:ext uri="{BB962C8B-B14F-4D97-AF65-F5344CB8AC3E}">
        <p14:creationId xmlns:p14="http://schemas.microsoft.com/office/powerpoint/2010/main" val="1600016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CFDA9C-4A62-C1B3-2F00-2E165591D6E5}"/>
              </a:ext>
            </a:extLst>
          </p:cNvPr>
          <p:cNvSpPr txBox="1"/>
          <p:nvPr/>
        </p:nvSpPr>
        <p:spPr>
          <a:xfrm>
            <a:off x="930728" y="706409"/>
            <a:ext cx="8661141" cy="738664"/>
          </a:xfrm>
          <a:prstGeom prst="rect">
            <a:avLst/>
          </a:prstGeom>
          <a:noFill/>
        </p:spPr>
        <p:txBody>
          <a:bodyPr wrap="square">
            <a:spAutoFit/>
          </a:bodyPr>
          <a:lstStyle/>
          <a:p>
            <a:pPr marL="0" indent="0">
              <a:buNone/>
            </a:pPr>
            <a:r>
              <a:rPr lang="en-IN" sz="2400" b="1" dirty="0">
                <a:solidFill>
                  <a:srgbClr val="002060"/>
                </a:solidFill>
                <a:latin typeface="Times New Roman" panose="02020603050405020304" pitchFamily="18" charset="0"/>
                <a:cs typeface="Times New Roman" panose="02020603050405020304" pitchFamily="18" charset="0"/>
              </a:rPr>
              <a:t>Class Diagram:</a:t>
            </a:r>
          </a:p>
          <a:p>
            <a:pPr marL="0" indent="0">
              <a:buNone/>
            </a:pPr>
            <a:endParaRPr lang="en-IN" sz="1800" b="1"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A2E6EC-0F55-5C89-4652-2825F7302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7564" y="1259633"/>
            <a:ext cx="2799139" cy="4961612"/>
          </a:xfrm>
          <a:prstGeom prst="rect">
            <a:avLst/>
          </a:prstGeom>
        </p:spPr>
      </p:pic>
    </p:spTree>
    <p:extLst>
      <p:ext uri="{BB962C8B-B14F-4D97-AF65-F5344CB8AC3E}">
        <p14:creationId xmlns:p14="http://schemas.microsoft.com/office/powerpoint/2010/main" val="922946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CA902-DD3B-E354-DE20-AB38FDDCD8E9}"/>
              </a:ext>
            </a:extLst>
          </p:cNvPr>
          <p:cNvSpPr>
            <a:spLocks noGrp="1"/>
          </p:cNvSpPr>
          <p:nvPr>
            <p:ph type="title"/>
          </p:nvPr>
        </p:nvSpPr>
        <p:spPr>
          <a:xfrm>
            <a:off x="838200" y="365125"/>
            <a:ext cx="5926494" cy="941161"/>
          </a:xfrm>
        </p:spPr>
        <p:txBody>
          <a:bodyPr>
            <a:normAutofit fontScale="90000"/>
          </a:bodyPr>
          <a:lstStyle/>
          <a:p>
            <a:r>
              <a:rPr lang="en-US" sz="2700" b="1" dirty="0">
                <a:solidFill>
                  <a:srgbClr val="002060"/>
                </a:solidFill>
                <a:latin typeface="Times New Roman" panose="02020603050405020304" pitchFamily="18" charset="0"/>
                <a:cs typeface="Times New Roman" panose="02020603050405020304" pitchFamily="18" charset="0"/>
              </a:rPr>
              <a:t>Use Case Diagram:</a:t>
            </a:r>
            <a:br>
              <a:rPr lang="en-US" sz="4400"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4" name="Picture 3">
            <a:extLst>
              <a:ext uri="{FF2B5EF4-FFF2-40B4-BE49-F238E27FC236}">
                <a16:creationId xmlns:a16="http://schemas.microsoft.com/office/drawing/2014/main" id="{0A92E31F-5EA7-F198-D1A1-A57C734278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288" y="897489"/>
            <a:ext cx="3733800" cy="4857750"/>
          </a:xfrm>
          <a:prstGeom prst="rect">
            <a:avLst/>
          </a:prstGeom>
        </p:spPr>
      </p:pic>
    </p:spTree>
    <p:extLst>
      <p:ext uri="{BB962C8B-B14F-4D97-AF65-F5344CB8AC3E}">
        <p14:creationId xmlns:p14="http://schemas.microsoft.com/office/powerpoint/2010/main" val="92232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C66BAC-C0EF-3E24-437C-5AF7D3B591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758" y="1033418"/>
            <a:ext cx="8584261" cy="5105736"/>
          </a:xfrm>
          <a:prstGeom prst="rect">
            <a:avLst/>
          </a:prstGeom>
        </p:spPr>
      </p:pic>
      <p:sp>
        <p:nvSpPr>
          <p:cNvPr id="4" name="TextBox 3">
            <a:extLst>
              <a:ext uri="{FF2B5EF4-FFF2-40B4-BE49-F238E27FC236}">
                <a16:creationId xmlns:a16="http://schemas.microsoft.com/office/drawing/2014/main" id="{EAD88085-107E-8BFC-7035-0B85BB5D3048}"/>
              </a:ext>
            </a:extLst>
          </p:cNvPr>
          <p:cNvSpPr txBox="1"/>
          <p:nvPr/>
        </p:nvSpPr>
        <p:spPr>
          <a:xfrm>
            <a:off x="615820" y="466531"/>
            <a:ext cx="2836507" cy="738664"/>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cs typeface="Times New Roman" panose="02020603050405020304" pitchFamily="18" charset="0"/>
              </a:rPr>
              <a:t>Sequence Diagram:</a:t>
            </a:r>
          </a:p>
          <a:p>
            <a:endParaRPr lang="en-IN" dirty="0"/>
          </a:p>
        </p:txBody>
      </p:sp>
    </p:spTree>
    <p:extLst>
      <p:ext uri="{BB962C8B-B14F-4D97-AF65-F5344CB8AC3E}">
        <p14:creationId xmlns:p14="http://schemas.microsoft.com/office/powerpoint/2010/main" val="2189322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52A559-43A9-4601-93B4-7BA2D71A85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2574" y="966204"/>
            <a:ext cx="4657725" cy="4981575"/>
          </a:xfrm>
          <a:prstGeom prst="rect">
            <a:avLst/>
          </a:prstGeom>
        </p:spPr>
      </p:pic>
      <p:sp>
        <p:nvSpPr>
          <p:cNvPr id="4" name="TextBox 3">
            <a:extLst>
              <a:ext uri="{FF2B5EF4-FFF2-40B4-BE49-F238E27FC236}">
                <a16:creationId xmlns:a16="http://schemas.microsoft.com/office/drawing/2014/main" id="{90FF16E6-1E7C-9B8B-346B-8DA2DD7977E0}"/>
              </a:ext>
            </a:extLst>
          </p:cNvPr>
          <p:cNvSpPr txBox="1"/>
          <p:nvPr/>
        </p:nvSpPr>
        <p:spPr>
          <a:xfrm>
            <a:off x="587829" y="466531"/>
            <a:ext cx="3247053" cy="738664"/>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cs typeface="Times New Roman" panose="02020603050405020304" pitchFamily="18" charset="0"/>
              </a:rPr>
              <a:t>Activity Diagram</a:t>
            </a:r>
            <a:r>
              <a:rPr lang="en-US" b="1" dirty="0">
                <a:solidFill>
                  <a:srgbClr val="002060"/>
                </a:solidFill>
                <a:latin typeface="Times New Roman" panose="02020603050405020304" pitchFamily="18" charset="0"/>
                <a:cs typeface="Times New Roman" panose="02020603050405020304" pitchFamily="18" charset="0"/>
              </a:rPr>
              <a:t>:</a:t>
            </a:r>
            <a:endParaRPr lang="en-US" sz="1800" b="1"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68721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DB53C-9DD4-2544-BB6F-840608FF4930}"/>
              </a:ext>
            </a:extLst>
          </p:cNvPr>
          <p:cNvSpPr txBox="1"/>
          <p:nvPr/>
        </p:nvSpPr>
        <p:spPr>
          <a:xfrm>
            <a:off x="586999" y="313509"/>
            <a:ext cx="4206240" cy="738664"/>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cs typeface="Times New Roman" panose="02020603050405020304" pitchFamily="18" charset="0"/>
              </a:rPr>
              <a:t>Implementation &amp; Testing</a:t>
            </a:r>
          </a:p>
          <a:p>
            <a:r>
              <a:rPr lang="en-US" sz="1800" b="1" dirty="0">
                <a:solidFill>
                  <a:srgbClr val="002060"/>
                </a:solidFill>
                <a:latin typeface="Times New Roman" panose="02020603050405020304" pitchFamily="18" charset="0"/>
                <a:cs typeface="Times New Roman" panose="02020603050405020304" pitchFamily="18" charset="0"/>
              </a:rPr>
              <a:t>Coding Blocks:</a:t>
            </a:r>
            <a:endParaRPr lang="en-IN" dirty="0"/>
          </a:p>
        </p:txBody>
      </p:sp>
      <p:sp>
        <p:nvSpPr>
          <p:cNvPr id="3" name="TextBox 2">
            <a:extLst>
              <a:ext uri="{FF2B5EF4-FFF2-40B4-BE49-F238E27FC236}">
                <a16:creationId xmlns:a16="http://schemas.microsoft.com/office/drawing/2014/main" id="{AE9889F2-5DF5-E1F9-998B-DC906D166F57}"/>
              </a:ext>
            </a:extLst>
          </p:cNvPr>
          <p:cNvSpPr txBox="1"/>
          <p:nvPr/>
        </p:nvSpPr>
        <p:spPr>
          <a:xfrm>
            <a:off x="645471" y="1015683"/>
            <a:ext cx="10495280" cy="5478423"/>
          </a:xfrm>
          <a:prstGeom prst="rect">
            <a:avLst/>
          </a:prstGeom>
          <a:noFill/>
        </p:spPr>
        <p:txBody>
          <a:bodyPr wrap="square" rtlCol="0">
            <a:spAutoFit/>
          </a:bodyPr>
          <a:lstStyle/>
          <a:p>
            <a:r>
              <a:rPr lang="en-IN" sz="1400" dirty="0"/>
              <a:t>import </a:t>
            </a:r>
            <a:r>
              <a:rPr lang="en-IN" sz="1400" dirty="0" err="1"/>
              <a:t>os</a:t>
            </a:r>
            <a:endParaRPr lang="en-IN" sz="1400" dirty="0"/>
          </a:p>
          <a:p>
            <a:r>
              <a:rPr lang="en-IN" sz="1400" dirty="0"/>
              <a:t>import </a:t>
            </a:r>
            <a:r>
              <a:rPr lang="en-IN" sz="1400" dirty="0" err="1"/>
              <a:t>numpy</a:t>
            </a:r>
            <a:r>
              <a:rPr lang="en-IN" sz="1400" dirty="0"/>
              <a:t> as np</a:t>
            </a:r>
          </a:p>
          <a:p>
            <a:r>
              <a:rPr lang="en-IN" sz="1400" dirty="0"/>
              <a:t>import </a:t>
            </a:r>
            <a:r>
              <a:rPr lang="en-IN" sz="1400" dirty="0" err="1"/>
              <a:t>librosa</a:t>
            </a:r>
            <a:endParaRPr lang="en-IN" sz="1400" dirty="0"/>
          </a:p>
          <a:p>
            <a:r>
              <a:rPr lang="en-IN" sz="1400" dirty="0"/>
              <a:t>import </a:t>
            </a:r>
            <a:r>
              <a:rPr lang="en-IN" sz="1400" dirty="0" err="1"/>
              <a:t>speech_recognition</a:t>
            </a:r>
            <a:r>
              <a:rPr lang="en-IN" sz="1400" dirty="0"/>
              <a:t> as </a:t>
            </a:r>
            <a:r>
              <a:rPr lang="en-IN" sz="1400" dirty="0" err="1"/>
              <a:t>sr</a:t>
            </a:r>
            <a:endParaRPr lang="en-IN" sz="1400" dirty="0"/>
          </a:p>
          <a:p>
            <a:r>
              <a:rPr lang="en-IN" sz="1400" dirty="0"/>
              <a:t>from </a:t>
            </a:r>
            <a:r>
              <a:rPr lang="en-IN" sz="1400" dirty="0" err="1"/>
              <a:t>sklearn.model_selection</a:t>
            </a:r>
            <a:r>
              <a:rPr lang="en-IN" sz="1400" dirty="0"/>
              <a:t> import </a:t>
            </a:r>
            <a:r>
              <a:rPr lang="en-IN" sz="1400" dirty="0" err="1"/>
              <a:t>train_test_split</a:t>
            </a:r>
            <a:endParaRPr lang="en-IN" sz="1400" dirty="0"/>
          </a:p>
          <a:p>
            <a:r>
              <a:rPr lang="en-IN" sz="1400" dirty="0"/>
              <a:t>from </a:t>
            </a:r>
            <a:r>
              <a:rPr lang="en-IN" sz="1400" dirty="0" err="1"/>
              <a:t>sklearn.preprocessing</a:t>
            </a:r>
            <a:r>
              <a:rPr lang="en-IN" sz="1400" dirty="0"/>
              <a:t> import </a:t>
            </a:r>
            <a:r>
              <a:rPr lang="en-IN" sz="1400" dirty="0" err="1"/>
              <a:t>LabelEncoder</a:t>
            </a:r>
            <a:endParaRPr lang="en-IN" sz="1400" dirty="0"/>
          </a:p>
          <a:p>
            <a:r>
              <a:rPr lang="en-IN" sz="1400" dirty="0"/>
              <a:t>from </a:t>
            </a:r>
            <a:r>
              <a:rPr lang="en-IN" sz="1400" dirty="0" err="1"/>
              <a:t>sklearn.ensemble</a:t>
            </a:r>
            <a:r>
              <a:rPr lang="en-IN" sz="1400" dirty="0"/>
              <a:t> import </a:t>
            </a:r>
            <a:r>
              <a:rPr lang="en-IN" sz="1400" dirty="0" err="1"/>
              <a:t>RandomForestClassifier</a:t>
            </a:r>
            <a:endParaRPr lang="en-IN" sz="1400" dirty="0"/>
          </a:p>
          <a:p>
            <a:r>
              <a:rPr lang="en-IN" sz="1400" dirty="0"/>
              <a:t>from </a:t>
            </a:r>
            <a:r>
              <a:rPr lang="en-IN" sz="1400" dirty="0" err="1"/>
              <a:t>sklearn.svm</a:t>
            </a:r>
            <a:r>
              <a:rPr lang="en-IN" sz="1400" dirty="0"/>
              <a:t> import SVC</a:t>
            </a:r>
          </a:p>
          <a:p>
            <a:r>
              <a:rPr lang="en-IN" sz="1400" dirty="0"/>
              <a:t>from </a:t>
            </a:r>
            <a:r>
              <a:rPr lang="en-IN" sz="1400" dirty="0" err="1"/>
              <a:t>sklearn.naive_bayes</a:t>
            </a:r>
            <a:r>
              <a:rPr lang="en-IN" sz="1400" dirty="0"/>
              <a:t> import </a:t>
            </a:r>
            <a:r>
              <a:rPr lang="en-IN" sz="1400" dirty="0" err="1"/>
              <a:t>GaussianNB</a:t>
            </a:r>
            <a:endParaRPr lang="en-IN" sz="1400" dirty="0"/>
          </a:p>
          <a:p>
            <a:r>
              <a:rPr lang="en-IN" sz="1400" dirty="0"/>
              <a:t>from </a:t>
            </a:r>
            <a:r>
              <a:rPr lang="en-IN" sz="1400" dirty="0" err="1"/>
              <a:t>sklearn.metrics</a:t>
            </a:r>
            <a:r>
              <a:rPr lang="en-IN" sz="1400" dirty="0"/>
              <a:t> import </a:t>
            </a:r>
            <a:r>
              <a:rPr lang="en-IN" sz="1400" dirty="0" err="1"/>
              <a:t>accuracy_score</a:t>
            </a:r>
            <a:endParaRPr lang="en-IN" sz="1400" dirty="0"/>
          </a:p>
          <a:p>
            <a:r>
              <a:rPr lang="en-IN" sz="1400" dirty="0"/>
              <a:t>from </a:t>
            </a:r>
            <a:r>
              <a:rPr lang="en-IN" sz="1400" dirty="0" err="1"/>
              <a:t>tkinter</a:t>
            </a:r>
            <a:r>
              <a:rPr lang="en-IN" sz="1400" dirty="0"/>
              <a:t> import Tk, </a:t>
            </a:r>
            <a:r>
              <a:rPr lang="en-IN" sz="1400" dirty="0" err="1"/>
              <a:t>filedialog</a:t>
            </a:r>
            <a:r>
              <a:rPr lang="en-IN" sz="1400" dirty="0"/>
              <a:t>, Label, Button</a:t>
            </a:r>
          </a:p>
          <a:p>
            <a:r>
              <a:rPr lang="en-IN" sz="1400" dirty="0"/>
              <a:t>import </a:t>
            </a:r>
            <a:r>
              <a:rPr lang="en-IN" sz="1400" dirty="0" err="1"/>
              <a:t>joblib</a:t>
            </a:r>
            <a:endParaRPr lang="en-IN" sz="1400" dirty="0"/>
          </a:p>
          <a:p>
            <a:r>
              <a:rPr lang="en-IN" sz="1400" dirty="0"/>
              <a:t>import </a:t>
            </a:r>
            <a:r>
              <a:rPr lang="en-IN" sz="1400" dirty="0" err="1"/>
              <a:t>matplotlib.pyplot</a:t>
            </a:r>
            <a:r>
              <a:rPr lang="en-IN" sz="1400" dirty="0"/>
              <a:t> as </a:t>
            </a:r>
            <a:r>
              <a:rPr lang="en-IN" sz="1400" dirty="0" err="1"/>
              <a:t>plt</a:t>
            </a:r>
            <a:endParaRPr lang="en-IN" sz="1400" dirty="0"/>
          </a:p>
          <a:p>
            <a:r>
              <a:rPr lang="en-IN" sz="1400" dirty="0"/>
              <a:t>import io</a:t>
            </a:r>
          </a:p>
          <a:p>
            <a:endParaRPr lang="en-IN" sz="1400" dirty="0"/>
          </a:p>
          <a:p>
            <a:r>
              <a:rPr lang="en-IN" sz="1400" dirty="0"/>
              <a:t># Feature Extraction</a:t>
            </a:r>
          </a:p>
          <a:p>
            <a:r>
              <a:rPr lang="en-IN" sz="1400" dirty="0"/>
              <a:t>def </a:t>
            </a:r>
            <a:r>
              <a:rPr lang="en-IN" sz="1400" dirty="0" err="1"/>
              <a:t>extract_features</a:t>
            </a:r>
            <a:r>
              <a:rPr lang="en-IN" sz="1400" dirty="0"/>
              <a:t>(</a:t>
            </a:r>
            <a:r>
              <a:rPr lang="en-IN" sz="1400" dirty="0" err="1"/>
              <a:t>file_name</a:t>
            </a:r>
            <a:r>
              <a:rPr lang="en-IN" sz="1400" dirty="0"/>
              <a:t>):</a:t>
            </a:r>
          </a:p>
          <a:p>
            <a:r>
              <a:rPr lang="en-IN" sz="1400" dirty="0"/>
              <a:t>    </a:t>
            </a:r>
            <a:r>
              <a:rPr lang="en-IN" sz="1400" dirty="0" err="1"/>
              <a:t>audio_data</a:t>
            </a:r>
            <a:r>
              <a:rPr lang="en-IN" sz="1400" dirty="0"/>
              <a:t>, </a:t>
            </a:r>
            <a:r>
              <a:rPr lang="en-IN" sz="1400" dirty="0" err="1"/>
              <a:t>sample_rate</a:t>
            </a:r>
            <a:r>
              <a:rPr lang="en-IN" sz="1400" dirty="0"/>
              <a:t> = </a:t>
            </a:r>
            <a:r>
              <a:rPr lang="en-IN" sz="1400" dirty="0" err="1"/>
              <a:t>librosa.load</a:t>
            </a:r>
            <a:r>
              <a:rPr lang="en-IN" sz="1400" dirty="0"/>
              <a:t>(</a:t>
            </a:r>
            <a:r>
              <a:rPr lang="en-IN" sz="1400" dirty="0" err="1"/>
              <a:t>file_name</a:t>
            </a:r>
            <a:r>
              <a:rPr lang="en-IN" sz="1400" dirty="0"/>
              <a:t>, </a:t>
            </a:r>
            <a:r>
              <a:rPr lang="en-IN" sz="1400" dirty="0" err="1"/>
              <a:t>res_type</a:t>
            </a:r>
            <a:r>
              <a:rPr lang="en-IN" sz="1400" dirty="0"/>
              <a:t>='</a:t>
            </a:r>
            <a:r>
              <a:rPr lang="en-IN" sz="1400" dirty="0" err="1"/>
              <a:t>kaiser_fast</a:t>
            </a:r>
            <a:r>
              <a:rPr lang="en-IN" sz="1400" dirty="0"/>
              <a:t>')</a:t>
            </a:r>
          </a:p>
          <a:p>
            <a:r>
              <a:rPr lang="en-IN" sz="1400" dirty="0"/>
              <a:t>    </a:t>
            </a:r>
            <a:r>
              <a:rPr lang="en-IN" sz="1400" dirty="0" err="1"/>
              <a:t>mfccs</a:t>
            </a:r>
            <a:r>
              <a:rPr lang="en-IN" sz="1400" dirty="0"/>
              <a:t> = </a:t>
            </a:r>
            <a:r>
              <a:rPr lang="en-IN" sz="1400" dirty="0" err="1"/>
              <a:t>np.mean</a:t>
            </a:r>
            <a:r>
              <a:rPr lang="en-IN" sz="1400" dirty="0"/>
              <a:t>(</a:t>
            </a:r>
            <a:r>
              <a:rPr lang="en-IN" sz="1400" dirty="0" err="1"/>
              <a:t>librosa.feature.mfcc</a:t>
            </a:r>
            <a:r>
              <a:rPr lang="en-IN" sz="1400" dirty="0"/>
              <a:t>(y=</a:t>
            </a:r>
            <a:r>
              <a:rPr lang="en-IN" sz="1400" dirty="0" err="1"/>
              <a:t>audio_data</a:t>
            </a:r>
            <a:r>
              <a:rPr lang="en-IN" sz="1400" dirty="0"/>
              <a:t>, </a:t>
            </a:r>
            <a:r>
              <a:rPr lang="en-IN" sz="1400" dirty="0" err="1"/>
              <a:t>sr</a:t>
            </a:r>
            <a:r>
              <a:rPr lang="en-IN" sz="1400" dirty="0"/>
              <a:t>=</a:t>
            </a:r>
            <a:r>
              <a:rPr lang="en-IN" sz="1400" dirty="0" err="1"/>
              <a:t>sample_rate</a:t>
            </a:r>
            <a:r>
              <a:rPr lang="en-IN" sz="1400" dirty="0"/>
              <a:t>, </a:t>
            </a:r>
            <a:r>
              <a:rPr lang="en-IN" sz="1400" dirty="0" err="1"/>
              <a:t>n_mfcc</a:t>
            </a:r>
            <a:r>
              <a:rPr lang="en-IN" sz="1400" dirty="0"/>
              <a:t>=40).T, axis=0)</a:t>
            </a:r>
          </a:p>
          <a:p>
            <a:r>
              <a:rPr lang="en-IN" sz="1400" dirty="0"/>
              <a:t>    chroma = </a:t>
            </a:r>
            <a:r>
              <a:rPr lang="en-IN" sz="1400" dirty="0" err="1"/>
              <a:t>np.mean</a:t>
            </a:r>
            <a:r>
              <a:rPr lang="en-IN" sz="1400" dirty="0"/>
              <a:t>(</a:t>
            </a:r>
            <a:r>
              <a:rPr lang="en-IN" sz="1400" dirty="0" err="1"/>
              <a:t>librosa.feature.chroma_stft</a:t>
            </a:r>
            <a:r>
              <a:rPr lang="en-IN" sz="1400" dirty="0"/>
              <a:t>(y=</a:t>
            </a:r>
            <a:r>
              <a:rPr lang="en-IN" sz="1400" dirty="0" err="1"/>
              <a:t>audio_data</a:t>
            </a:r>
            <a:r>
              <a:rPr lang="en-IN" sz="1400" dirty="0"/>
              <a:t>, </a:t>
            </a:r>
            <a:r>
              <a:rPr lang="en-IN" sz="1400" dirty="0" err="1"/>
              <a:t>sr</a:t>
            </a:r>
            <a:r>
              <a:rPr lang="en-IN" sz="1400" dirty="0"/>
              <a:t>=</a:t>
            </a:r>
            <a:r>
              <a:rPr lang="en-IN" sz="1400" dirty="0" err="1"/>
              <a:t>sample_rate</a:t>
            </a:r>
            <a:r>
              <a:rPr lang="en-IN" sz="1400" dirty="0"/>
              <a:t>).T, axis=0)</a:t>
            </a:r>
          </a:p>
          <a:p>
            <a:r>
              <a:rPr lang="en-IN" sz="1400" dirty="0" err="1"/>
              <a:t>mel</a:t>
            </a:r>
            <a:r>
              <a:rPr lang="en-IN" sz="1400" dirty="0"/>
              <a:t> = </a:t>
            </a:r>
            <a:r>
              <a:rPr lang="en-IN" sz="1400" dirty="0" err="1"/>
              <a:t>np.mean</a:t>
            </a:r>
            <a:r>
              <a:rPr lang="en-IN" sz="1400" dirty="0"/>
              <a:t>(</a:t>
            </a:r>
            <a:r>
              <a:rPr lang="en-IN" sz="1400" dirty="0" err="1"/>
              <a:t>librosa.feature.melspectrogram</a:t>
            </a:r>
            <a:r>
              <a:rPr lang="en-IN" sz="1400" dirty="0"/>
              <a:t>(y=</a:t>
            </a:r>
            <a:r>
              <a:rPr lang="en-IN" sz="1400" dirty="0" err="1"/>
              <a:t>audio_data</a:t>
            </a:r>
            <a:r>
              <a:rPr lang="en-IN" sz="1400" dirty="0"/>
              <a:t>, </a:t>
            </a:r>
            <a:r>
              <a:rPr lang="en-IN" sz="1400" dirty="0" err="1"/>
              <a:t>sr</a:t>
            </a:r>
            <a:r>
              <a:rPr lang="en-IN" sz="1400" dirty="0"/>
              <a:t>=</a:t>
            </a:r>
            <a:r>
              <a:rPr lang="en-IN" sz="1400" dirty="0" err="1"/>
              <a:t>sample_rate</a:t>
            </a:r>
            <a:r>
              <a:rPr lang="en-IN" sz="1400" dirty="0"/>
              <a:t>).T, axis=0)</a:t>
            </a:r>
          </a:p>
          <a:p>
            <a:r>
              <a:rPr lang="en-IN" sz="1400" dirty="0"/>
              <a:t>    return </a:t>
            </a:r>
            <a:r>
              <a:rPr lang="en-IN" sz="1400" dirty="0" err="1"/>
              <a:t>np.hstack</a:t>
            </a:r>
            <a:r>
              <a:rPr lang="en-IN" sz="1400" dirty="0"/>
              <a:t>([</a:t>
            </a:r>
            <a:r>
              <a:rPr lang="en-IN" sz="1400" dirty="0" err="1"/>
              <a:t>mfccs</a:t>
            </a:r>
            <a:r>
              <a:rPr lang="en-IN" sz="1400" dirty="0"/>
              <a:t>, chroma, </a:t>
            </a:r>
            <a:r>
              <a:rPr lang="en-IN" sz="1400" dirty="0" err="1"/>
              <a:t>mel</a:t>
            </a:r>
            <a:r>
              <a:rPr lang="en-IN" sz="1400" dirty="0"/>
              <a:t>])</a:t>
            </a:r>
          </a:p>
          <a:p>
            <a:endParaRPr lang="en-IN" sz="1400" dirty="0"/>
          </a:p>
          <a:p>
            <a:endParaRPr lang="en-IN" sz="1400" dirty="0"/>
          </a:p>
          <a:p>
            <a:r>
              <a:rPr lang="en-IN" sz="1400" dirty="0"/>
              <a:t>    </a:t>
            </a:r>
          </a:p>
        </p:txBody>
      </p:sp>
    </p:spTree>
    <p:extLst>
      <p:ext uri="{BB962C8B-B14F-4D97-AF65-F5344CB8AC3E}">
        <p14:creationId xmlns:p14="http://schemas.microsoft.com/office/powerpoint/2010/main" val="492081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76040-E227-1F7E-36E1-CFE67B897F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BD257D-E3D3-D329-DD39-45A75194940F}"/>
              </a:ext>
            </a:extLst>
          </p:cNvPr>
          <p:cNvSpPr txBox="1"/>
          <p:nvPr/>
        </p:nvSpPr>
        <p:spPr>
          <a:xfrm>
            <a:off x="741680" y="0"/>
            <a:ext cx="10495280" cy="7755969"/>
          </a:xfrm>
          <a:prstGeom prst="rect">
            <a:avLst/>
          </a:prstGeom>
          <a:noFill/>
        </p:spPr>
        <p:txBody>
          <a:bodyPr wrap="square" rtlCol="0">
            <a:spAutoFit/>
          </a:bodyPr>
          <a:lstStyle/>
          <a:p>
            <a:endParaRPr lang="en-IN" sz="1400" dirty="0"/>
          </a:p>
          <a:p>
            <a:r>
              <a:rPr lang="en-IN" sz="1400" dirty="0"/>
              <a:t># Generate and plot spectrogram</a:t>
            </a:r>
          </a:p>
          <a:p>
            <a:r>
              <a:rPr lang="en-IN" sz="1400" dirty="0"/>
              <a:t>def </a:t>
            </a:r>
            <a:r>
              <a:rPr lang="en-IN" sz="1400" dirty="0" err="1"/>
              <a:t>plot_spectrogram</a:t>
            </a:r>
            <a:r>
              <a:rPr lang="en-IN" sz="1400" dirty="0"/>
              <a:t>(</a:t>
            </a:r>
            <a:r>
              <a:rPr lang="en-IN" sz="1400" dirty="0" err="1"/>
              <a:t>file_name</a:t>
            </a:r>
            <a:r>
              <a:rPr lang="en-IN" sz="1400" dirty="0"/>
              <a:t>):</a:t>
            </a:r>
          </a:p>
          <a:p>
            <a:r>
              <a:rPr lang="en-IN" sz="1400" dirty="0"/>
              <a:t>    </a:t>
            </a:r>
            <a:r>
              <a:rPr lang="en-IN" sz="1400" dirty="0" err="1"/>
              <a:t>audio_data</a:t>
            </a:r>
            <a:r>
              <a:rPr lang="en-IN" sz="1400" dirty="0"/>
              <a:t>, </a:t>
            </a:r>
            <a:r>
              <a:rPr lang="en-IN" sz="1400" dirty="0" err="1"/>
              <a:t>sample_rate</a:t>
            </a:r>
            <a:r>
              <a:rPr lang="en-IN" sz="1400" dirty="0"/>
              <a:t> = </a:t>
            </a:r>
            <a:r>
              <a:rPr lang="en-IN" sz="1400" dirty="0" err="1"/>
              <a:t>librosa.load</a:t>
            </a:r>
            <a:r>
              <a:rPr lang="en-IN" sz="1400" dirty="0"/>
              <a:t>(</a:t>
            </a:r>
            <a:r>
              <a:rPr lang="en-IN" sz="1400" dirty="0" err="1"/>
              <a:t>file_name</a:t>
            </a:r>
            <a:r>
              <a:rPr lang="en-IN" sz="1400" dirty="0"/>
              <a:t>, </a:t>
            </a:r>
            <a:r>
              <a:rPr lang="en-IN" sz="1400" dirty="0" err="1"/>
              <a:t>res_type</a:t>
            </a:r>
            <a:r>
              <a:rPr lang="en-IN" sz="1400" dirty="0"/>
              <a:t>='</a:t>
            </a:r>
            <a:r>
              <a:rPr lang="en-IN" sz="1400" dirty="0" err="1"/>
              <a:t>kaiser_fast</a:t>
            </a:r>
            <a:r>
              <a:rPr lang="en-IN" sz="1400" dirty="0"/>
              <a:t>')</a:t>
            </a:r>
          </a:p>
          <a:p>
            <a:r>
              <a:rPr lang="en-IN" sz="1400" dirty="0"/>
              <a:t>    </a:t>
            </a:r>
            <a:r>
              <a:rPr lang="en-IN" sz="1400" dirty="0" err="1"/>
              <a:t>plt.figure</a:t>
            </a:r>
            <a:r>
              <a:rPr lang="en-IN" sz="1400" dirty="0"/>
              <a:t>(</a:t>
            </a:r>
            <a:r>
              <a:rPr lang="en-IN" sz="1400" dirty="0" err="1"/>
              <a:t>figsize</a:t>
            </a:r>
            <a:r>
              <a:rPr lang="en-IN" sz="1400" dirty="0"/>
              <a:t>=(10, 4))</a:t>
            </a:r>
          </a:p>
          <a:p>
            <a:r>
              <a:rPr lang="en-IN" sz="1400" dirty="0"/>
              <a:t>    D = </a:t>
            </a:r>
            <a:r>
              <a:rPr lang="en-IN" sz="1400" dirty="0" err="1"/>
              <a:t>librosa.amplitude_to_db</a:t>
            </a:r>
            <a:r>
              <a:rPr lang="en-IN" sz="1400" dirty="0"/>
              <a:t>(</a:t>
            </a:r>
            <a:r>
              <a:rPr lang="en-IN" sz="1400" dirty="0" err="1"/>
              <a:t>np.abs</a:t>
            </a:r>
            <a:r>
              <a:rPr lang="en-IN" sz="1400" dirty="0"/>
              <a:t>(</a:t>
            </a:r>
            <a:r>
              <a:rPr lang="en-IN" sz="1400" dirty="0" err="1"/>
              <a:t>librosa.stft</a:t>
            </a:r>
            <a:r>
              <a:rPr lang="en-IN" sz="1400" dirty="0"/>
              <a:t>(</a:t>
            </a:r>
            <a:r>
              <a:rPr lang="en-IN" sz="1400" dirty="0" err="1"/>
              <a:t>audio_data</a:t>
            </a:r>
            <a:r>
              <a:rPr lang="en-IN" sz="1400" dirty="0"/>
              <a:t>)), ref=</a:t>
            </a:r>
            <a:r>
              <a:rPr lang="en-IN" sz="1400" dirty="0" err="1"/>
              <a:t>np.max</a:t>
            </a:r>
            <a:r>
              <a:rPr lang="en-IN" sz="1400" dirty="0"/>
              <a:t>)</a:t>
            </a:r>
          </a:p>
          <a:p>
            <a:r>
              <a:rPr lang="en-IN" sz="1400" dirty="0"/>
              <a:t>    </a:t>
            </a:r>
            <a:r>
              <a:rPr lang="en-IN" sz="1400" dirty="0" err="1"/>
              <a:t>plt.imshow</a:t>
            </a:r>
            <a:r>
              <a:rPr lang="en-IN" sz="1400" dirty="0"/>
              <a:t>(D, aspect='auto', </a:t>
            </a:r>
            <a:r>
              <a:rPr lang="en-IN" sz="1400" dirty="0" err="1"/>
              <a:t>cmap</a:t>
            </a:r>
            <a:r>
              <a:rPr lang="en-IN" sz="1400" dirty="0"/>
              <a:t>='inferno', origin='lower',</a:t>
            </a:r>
          </a:p>
          <a:p>
            <a:r>
              <a:rPr lang="en-IN" sz="1400" dirty="0"/>
              <a:t>               extent=[0, </a:t>
            </a:r>
            <a:r>
              <a:rPr lang="en-IN" sz="1400" dirty="0" err="1"/>
              <a:t>len</a:t>
            </a:r>
            <a:r>
              <a:rPr lang="en-IN" sz="1400" dirty="0"/>
              <a:t>(</a:t>
            </a:r>
            <a:r>
              <a:rPr lang="en-IN" sz="1400" dirty="0" err="1"/>
              <a:t>audio_data</a:t>
            </a:r>
            <a:r>
              <a:rPr lang="en-IN" sz="1400" dirty="0"/>
              <a:t>) / </a:t>
            </a:r>
            <a:r>
              <a:rPr lang="en-IN" sz="1400" dirty="0" err="1"/>
              <a:t>sample_rate</a:t>
            </a:r>
            <a:r>
              <a:rPr lang="en-IN" sz="1400" dirty="0"/>
              <a:t>, 0, </a:t>
            </a:r>
            <a:r>
              <a:rPr lang="en-IN" sz="1400" dirty="0" err="1"/>
              <a:t>sample_rate</a:t>
            </a:r>
            <a:r>
              <a:rPr lang="en-IN" sz="1400" dirty="0"/>
              <a:t> / 2])</a:t>
            </a:r>
          </a:p>
          <a:p>
            <a:endParaRPr lang="en-IN" sz="1400" dirty="0"/>
          </a:p>
          <a:p>
            <a:r>
              <a:rPr lang="en-IN" sz="1400" dirty="0" err="1"/>
              <a:t>plt.colorbar</a:t>
            </a:r>
            <a:r>
              <a:rPr lang="en-IN" sz="1400" dirty="0"/>
              <a:t>(format='%+2.0f dB')</a:t>
            </a:r>
          </a:p>
          <a:p>
            <a:r>
              <a:rPr lang="en-IN" sz="1400" dirty="0"/>
              <a:t>    </a:t>
            </a:r>
            <a:r>
              <a:rPr lang="en-IN" sz="1400" dirty="0" err="1"/>
              <a:t>plt.title</a:t>
            </a:r>
            <a:r>
              <a:rPr lang="en-IN" sz="1400" dirty="0"/>
              <a:t>('Spectrogram')</a:t>
            </a:r>
          </a:p>
          <a:p>
            <a:r>
              <a:rPr lang="en-IN" sz="1400" dirty="0"/>
              <a:t>    </a:t>
            </a:r>
            <a:r>
              <a:rPr lang="en-IN" sz="1400" dirty="0" err="1"/>
              <a:t>plt.xlabel</a:t>
            </a:r>
            <a:r>
              <a:rPr lang="en-IN" sz="1400" dirty="0"/>
              <a:t>('Time (s)')</a:t>
            </a:r>
          </a:p>
          <a:p>
            <a:r>
              <a:rPr lang="en-IN" sz="1400" dirty="0"/>
              <a:t>    </a:t>
            </a:r>
            <a:r>
              <a:rPr lang="en-IN" sz="1400" dirty="0" err="1"/>
              <a:t>plt.ylabel</a:t>
            </a:r>
            <a:r>
              <a:rPr lang="en-IN" sz="1400" dirty="0"/>
              <a:t>('Frequency (Hz)')</a:t>
            </a:r>
          </a:p>
          <a:p>
            <a:r>
              <a:rPr lang="en-IN" sz="1400" dirty="0"/>
              <a:t>    </a:t>
            </a:r>
            <a:r>
              <a:rPr lang="en-IN" sz="1400" dirty="0" err="1"/>
              <a:t>plt.tight_layout</a:t>
            </a:r>
            <a:r>
              <a:rPr lang="en-IN" sz="1400" dirty="0"/>
              <a:t>()</a:t>
            </a:r>
          </a:p>
          <a:p>
            <a:r>
              <a:rPr lang="en-IN" sz="1400" dirty="0"/>
              <a:t>    </a:t>
            </a:r>
            <a:r>
              <a:rPr lang="en-IN" sz="1400" dirty="0" err="1"/>
              <a:t>plt.show</a:t>
            </a:r>
            <a:r>
              <a:rPr lang="en-IN" sz="1400" dirty="0"/>
              <a:t>()</a:t>
            </a:r>
          </a:p>
          <a:p>
            <a:r>
              <a:rPr lang="en-IN" sz="1400" dirty="0"/>
              <a:t># Speech-to-text conversion</a:t>
            </a:r>
          </a:p>
          <a:p>
            <a:r>
              <a:rPr lang="en-IN" sz="1400" dirty="0"/>
              <a:t>def </a:t>
            </a:r>
            <a:r>
              <a:rPr lang="en-IN" sz="1400" dirty="0" err="1"/>
              <a:t>speech_to_text</a:t>
            </a:r>
            <a:r>
              <a:rPr lang="en-IN" sz="1400" dirty="0"/>
              <a:t>(</a:t>
            </a:r>
            <a:r>
              <a:rPr lang="en-IN" sz="1400" dirty="0" err="1"/>
              <a:t>file_name</a:t>
            </a:r>
            <a:r>
              <a:rPr lang="en-IN" sz="1400" dirty="0"/>
              <a:t>):</a:t>
            </a:r>
          </a:p>
          <a:p>
            <a:r>
              <a:rPr lang="en-IN" sz="1400" dirty="0"/>
              <a:t>    recognizer = </a:t>
            </a:r>
            <a:r>
              <a:rPr lang="en-IN" sz="1400" dirty="0" err="1"/>
              <a:t>sr.Recognizer</a:t>
            </a:r>
            <a:r>
              <a:rPr lang="en-IN" sz="1400" dirty="0"/>
              <a:t>()</a:t>
            </a:r>
          </a:p>
          <a:p>
            <a:r>
              <a:rPr lang="en-IN" sz="1400" dirty="0"/>
              <a:t>    </a:t>
            </a:r>
            <a:r>
              <a:rPr lang="en-IN" sz="1400" dirty="0" err="1"/>
              <a:t>audio_file</a:t>
            </a:r>
            <a:r>
              <a:rPr lang="en-IN" sz="1400" dirty="0"/>
              <a:t> = </a:t>
            </a:r>
            <a:r>
              <a:rPr lang="en-IN" sz="1400" dirty="0" err="1"/>
              <a:t>sr.AudioFile</a:t>
            </a:r>
            <a:r>
              <a:rPr lang="en-IN" sz="1400" dirty="0"/>
              <a:t>(</a:t>
            </a:r>
            <a:r>
              <a:rPr lang="en-IN" sz="1400" dirty="0" err="1"/>
              <a:t>file_name</a:t>
            </a:r>
            <a:r>
              <a:rPr lang="en-IN" sz="1400" dirty="0"/>
              <a:t>)</a:t>
            </a:r>
          </a:p>
          <a:p>
            <a:r>
              <a:rPr lang="en-IN" sz="1400" dirty="0"/>
              <a:t>    with </a:t>
            </a:r>
            <a:r>
              <a:rPr lang="en-IN" sz="1400" dirty="0" err="1"/>
              <a:t>audio_file</a:t>
            </a:r>
            <a:r>
              <a:rPr lang="en-IN" sz="1400" dirty="0"/>
              <a:t> as source:</a:t>
            </a:r>
          </a:p>
          <a:p>
            <a:r>
              <a:rPr lang="en-IN" sz="1400" dirty="0"/>
              <a:t>        audio = </a:t>
            </a:r>
            <a:r>
              <a:rPr lang="en-IN" sz="1400" dirty="0" err="1"/>
              <a:t>recognizer.record</a:t>
            </a:r>
            <a:r>
              <a:rPr lang="en-IN" sz="1400" dirty="0"/>
              <a:t>(source)</a:t>
            </a:r>
          </a:p>
          <a:p>
            <a:r>
              <a:rPr lang="en-IN" sz="1400" dirty="0"/>
              <a:t>    try:</a:t>
            </a:r>
          </a:p>
          <a:p>
            <a:r>
              <a:rPr lang="en-IN" sz="1400" dirty="0"/>
              <a:t>        text = </a:t>
            </a:r>
            <a:r>
              <a:rPr lang="en-IN" sz="1400" dirty="0" err="1"/>
              <a:t>recognizer.recognize_google</a:t>
            </a:r>
            <a:r>
              <a:rPr lang="en-IN" sz="1400" dirty="0"/>
              <a:t>(audio)</a:t>
            </a:r>
          </a:p>
          <a:p>
            <a:r>
              <a:rPr lang="en-IN" sz="1400" dirty="0"/>
              <a:t>        return text</a:t>
            </a:r>
          </a:p>
          <a:p>
            <a:r>
              <a:rPr lang="en-IN" sz="1400" dirty="0"/>
              <a:t>    except </a:t>
            </a:r>
            <a:r>
              <a:rPr lang="en-IN" sz="1400" dirty="0" err="1"/>
              <a:t>sr.UnknownValueError</a:t>
            </a:r>
            <a:r>
              <a:rPr lang="en-IN" sz="1400" dirty="0"/>
              <a:t>:</a:t>
            </a:r>
          </a:p>
          <a:p>
            <a:r>
              <a:rPr lang="en-IN" sz="1400" dirty="0"/>
              <a:t>        return "Speech not recognized"</a:t>
            </a:r>
          </a:p>
          <a:p>
            <a:r>
              <a:rPr lang="en-IN" sz="1400" dirty="0"/>
              <a:t>    except </a:t>
            </a:r>
            <a:r>
              <a:rPr lang="en-IN" sz="1400" dirty="0" err="1"/>
              <a:t>sr.RequestError</a:t>
            </a:r>
            <a:r>
              <a:rPr lang="en-IN" sz="1400" dirty="0"/>
              <a:t>:</a:t>
            </a:r>
          </a:p>
          <a:p>
            <a:r>
              <a:rPr lang="en-IN" sz="1400" dirty="0"/>
              <a:t>        return "Speech recognition service unavailable“</a:t>
            </a:r>
          </a:p>
          <a:p>
            <a:r>
              <a:rPr lang="en-IN" sz="1400" dirty="0"/>
              <a:t># Load dataset and extract features</a:t>
            </a:r>
          </a:p>
          <a:p>
            <a:r>
              <a:rPr lang="en-IN" sz="1400" dirty="0"/>
              <a:t>def </a:t>
            </a:r>
            <a:r>
              <a:rPr lang="en-IN" sz="1400" dirty="0" err="1"/>
              <a:t>load_data</a:t>
            </a:r>
            <a:r>
              <a:rPr lang="en-IN" sz="1400" dirty="0"/>
              <a:t>():</a:t>
            </a:r>
          </a:p>
          <a:p>
            <a:r>
              <a:rPr lang="en-IN" sz="1400" dirty="0"/>
              <a:t>    data = []</a:t>
            </a:r>
          </a:p>
          <a:p>
            <a:r>
              <a:rPr lang="en-IN" sz="1400" dirty="0"/>
              <a:t>    </a:t>
            </a:r>
          </a:p>
          <a:p>
            <a:endParaRPr lang="en-IN" sz="1400" dirty="0"/>
          </a:p>
          <a:p>
            <a:endParaRPr lang="en-IN" dirty="0"/>
          </a:p>
          <a:p>
            <a:r>
              <a:rPr lang="en-IN" dirty="0"/>
              <a:t>    </a:t>
            </a:r>
          </a:p>
        </p:txBody>
      </p:sp>
    </p:spTree>
    <p:extLst>
      <p:ext uri="{BB962C8B-B14F-4D97-AF65-F5344CB8AC3E}">
        <p14:creationId xmlns:p14="http://schemas.microsoft.com/office/powerpoint/2010/main" val="3157433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8E75A-3AD2-06B6-057B-47EAC35D1E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098F28-92ED-8146-0F3C-34ED6ABF1073}"/>
              </a:ext>
            </a:extLst>
          </p:cNvPr>
          <p:cNvSpPr txBox="1"/>
          <p:nvPr/>
        </p:nvSpPr>
        <p:spPr>
          <a:xfrm>
            <a:off x="621210" y="-75474"/>
            <a:ext cx="10495280" cy="7632859"/>
          </a:xfrm>
          <a:prstGeom prst="rect">
            <a:avLst/>
          </a:prstGeom>
          <a:noFill/>
        </p:spPr>
        <p:txBody>
          <a:bodyPr wrap="square" rtlCol="0">
            <a:spAutoFit/>
          </a:bodyPr>
          <a:lstStyle/>
          <a:p>
            <a:endParaRPr lang="en-IN" sz="1400" dirty="0"/>
          </a:p>
          <a:p>
            <a:r>
              <a:rPr lang="en-IN" sz="1400" dirty="0"/>
              <a:t>emotions = []</a:t>
            </a:r>
          </a:p>
          <a:p>
            <a:r>
              <a:rPr lang="en-IN" sz="1400" dirty="0"/>
              <a:t>    </a:t>
            </a:r>
            <a:r>
              <a:rPr lang="en-IN" sz="1400" dirty="0" err="1"/>
              <a:t>dataset_path</a:t>
            </a:r>
            <a:r>
              <a:rPr lang="en-IN" sz="1400" dirty="0"/>
              <a:t> = 'dataset/'  # Ensure this path is correct</a:t>
            </a:r>
          </a:p>
          <a:p>
            <a:r>
              <a:rPr lang="en-IN" sz="1400" dirty="0"/>
              <a:t>    for file in </a:t>
            </a:r>
            <a:r>
              <a:rPr lang="en-IN" sz="1400" dirty="0" err="1"/>
              <a:t>os.listdir</a:t>
            </a:r>
            <a:r>
              <a:rPr lang="en-IN" sz="1400" dirty="0"/>
              <a:t>(</a:t>
            </a:r>
            <a:r>
              <a:rPr lang="en-IN" sz="1400" dirty="0" err="1"/>
              <a:t>dataset_path</a:t>
            </a:r>
            <a:r>
              <a:rPr lang="en-IN" sz="1400" dirty="0"/>
              <a:t>):</a:t>
            </a:r>
          </a:p>
          <a:p>
            <a:r>
              <a:rPr lang="en-IN" sz="1400" dirty="0"/>
              <a:t>        if </a:t>
            </a:r>
            <a:r>
              <a:rPr lang="en-IN" sz="1400" dirty="0" err="1"/>
              <a:t>file.endswith</a:t>
            </a:r>
            <a:r>
              <a:rPr lang="en-IN" sz="1400" dirty="0"/>
              <a:t>('.wav'):</a:t>
            </a:r>
          </a:p>
          <a:p>
            <a:r>
              <a:rPr lang="en-IN" sz="1400" dirty="0"/>
              <a:t>            </a:t>
            </a:r>
            <a:r>
              <a:rPr lang="en-IN" sz="1400" dirty="0" err="1"/>
              <a:t>feature_vector</a:t>
            </a:r>
            <a:r>
              <a:rPr lang="en-IN" sz="1400" dirty="0"/>
              <a:t> = </a:t>
            </a:r>
            <a:r>
              <a:rPr lang="en-IN" sz="1400" dirty="0" err="1"/>
              <a:t>extract_features</a:t>
            </a:r>
            <a:r>
              <a:rPr lang="en-IN" sz="1400" dirty="0"/>
              <a:t>(</a:t>
            </a:r>
            <a:r>
              <a:rPr lang="en-IN" sz="1400" dirty="0" err="1"/>
              <a:t>os.path.join</a:t>
            </a:r>
            <a:r>
              <a:rPr lang="en-IN" sz="1400" dirty="0"/>
              <a:t>(</a:t>
            </a:r>
            <a:r>
              <a:rPr lang="en-IN" sz="1400" dirty="0" err="1"/>
              <a:t>dataset_path</a:t>
            </a:r>
            <a:r>
              <a:rPr lang="en-IN" sz="1400" dirty="0"/>
              <a:t>, file))</a:t>
            </a:r>
          </a:p>
          <a:p>
            <a:r>
              <a:rPr lang="en-IN" sz="1400" dirty="0"/>
              <a:t>            </a:t>
            </a:r>
            <a:r>
              <a:rPr lang="en-IN" sz="1400" dirty="0" err="1"/>
              <a:t>data.append</a:t>
            </a:r>
            <a:r>
              <a:rPr lang="en-IN" sz="1400" dirty="0"/>
              <a:t>(</a:t>
            </a:r>
            <a:r>
              <a:rPr lang="en-IN" sz="1400" dirty="0" err="1"/>
              <a:t>feature_vector</a:t>
            </a:r>
            <a:r>
              <a:rPr lang="en-IN" sz="1400" dirty="0"/>
              <a:t>)</a:t>
            </a:r>
          </a:p>
          <a:p>
            <a:r>
              <a:rPr lang="en-IN" sz="1400" dirty="0"/>
              <a:t>            emotion = int(</a:t>
            </a:r>
            <a:r>
              <a:rPr lang="en-IN" sz="1400" dirty="0" err="1"/>
              <a:t>file.split</a:t>
            </a:r>
            <a:r>
              <a:rPr lang="en-IN" sz="1400" dirty="0"/>
              <a:t>('-')[2])  # Adjust based on your filename format</a:t>
            </a:r>
          </a:p>
          <a:p>
            <a:r>
              <a:rPr lang="en-IN" sz="1400" dirty="0"/>
              <a:t>            </a:t>
            </a:r>
            <a:r>
              <a:rPr lang="en-IN" sz="1400" dirty="0" err="1"/>
              <a:t>emotions.append</a:t>
            </a:r>
            <a:r>
              <a:rPr lang="en-IN" sz="1400" dirty="0"/>
              <a:t>(emotion)</a:t>
            </a:r>
          </a:p>
          <a:p>
            <a:r>
              <a:rPr lang="en-IN" sz="1400" dirty="0"/>
              <a:t>    return </a:t>
            </a:r>
            <a:r>
              <a:rPr lang="en-IN" sz="1400" dirty="0" err="1"/>
              <a:t>np.array</a:t>
            </a:r>
            <a:r>
              <a:rPr lang="en-IN" sz="1400" dirty="0"/>
              <a:t>(data), </a:t>
            </a:r>
            <a:r>
              <a:rPr lang="en-IN" sz="1400" dirty="0" err="1"/>
              <a:t>np.array</a:t>
            </a:r>
            <a:r>
              <a:rPr lang="en-IN" sz="1400" dirty="0"/>
              <a:t>(emotions)</a:t>
            </a:r>
          </a:p>
          <a:p>
            <a:endParaRPr lang="en-IN" sz="1400" dirty="0"/>
          </a:p>
          <a:p>
            <a:r>
              <a:rPr lang="en-IN" sz="1400" dirty="0"/>
              <a:t># Emotion labels corresponding to the encoded labels</a:t>
            </a:r>
          </a:p>
          <a:p>
            <a:r>
              <a:rPr lang="en-IN" sz="1400" dirty="0" err="1"/>
              <a:t>emotion_labels</a:t>
            </a:r>
            <a:r>
              <a:rPr lang="en-IN" sz="1400" dirty="0"/>
              <a:t> = ["happy", "sad", "angry", "fearful", "surprised", "neutral"]</a:t>
            </a:r>
          </a:p>
          <a:p>
            <a:endParaRPr lang="en-IN" sz="1400" dirty="0"/>
          </a:p>
          <a:p>
            <a:r>
              <a:rPr lang="en-IN" sz="1400" dirty="0"/>
              <a:t># Load and preprocess data</a:t>
            </a:r>
          </a:p>
          <a:p>
            <a:r>
              <a:rPr lang="en-IN" sz="1400" dirty="0"/>
              <a:t>X, y = </a:t>
            </a:r>
            <a:r>
              <a:rPr lang="en-IN" sz="1400" dirty="0" err="1"/>
              <a:t>load_data</a:t>
            </a:r>
            <a:r>
              <a:rPr lang="en-IN" sz="1400" dirty="0"/>
              <a:t>()</a:t>
            </a:r>
          </a:p>
          <a:p>
            <a:r>
              <a:rPr lang="en-IN" sz="1400" dirty="0"/>
              <a:t>if </a:t>
            </a:r>
            <a:r>
              <a:rPr lang="en-IN" sz="1400" dirty="0" err="1"/>
              <a:t>len</a:t>
            </a:r>
            <a:r>
              <a:rPr lang="en-IN" sz="1400" dirty="0"/>
              <a:t>(X) == 0 or </a:t>
            </a:r>
            <a:r>
              <a:rPr lang="en-IN" sz="1400" dirty="0" err="1"/>
              <a:t>len</a:t>
            </a:r>
            <a:r>
              <a:rPr lang="en-IN" sz="1400" dirty="0"/>
              <a:t>(y) == 0:</a:t>
            </a:r>
          </a:p>
          <a:p>
            <a:r>
              <a:rPr lang="en-IN" sz="1400" dirty="0"/>
              <a:t>    raise </a:t>
            </a:r>
            <a:r>
              <a:rPr lang="en-IN" sz="1400" dirty="0" err="1"/>
              <a:t>ValueError</a:t>
            </a:r>
            <a:r>
              <a:rPr lang="en-IN" sz="1400" dirty="0"/>
              <a:t>("No data loaded. Please check your dataset directory.")</a:t>
            </a:r>
          </a:p>
          <a:p>
            <a:endParaRPr lang="en-IN" sz="1400" dirty="0"/>
          </a:p>
          <a:p>
            <a:r>
              <a:rPr lang="en-IN" sz="1400" dirty="0"/>
              <a:t>le = </a:t>
            </a:r>
            <a:r>
              <a:rPr lang="en-IN" sz="1400" dirty="0" err="1"/>
              <a:t>LabelEncoder</a:t>
            </a:r>
            <a:r>
              <a:rPr lang="en-IN" sz="1400" dirty="0"/>
              <a:t>()</a:t>
            </a:r>
          </a:p>
          <a:p>
            <a:r>
              <a:rPr lang="en-IN" sz="1400" dirty="0" err="1"/>
              <a:t>y_encoded</a:t>
            </a:r>
            <a:r>
              <a:rPr lang="en-IN" sz="1400" dirty="0"/>
              <a:t> = </a:t>
            </a:r>
            <a:r>
              <a:rPr lang="en-IN" sz="1400" dirty="0" err="1"/>
              <a:t>le.fit_transform</a:t>
            </a:r>
            <a:r>
              <a:rPr lang="en-IN" sz="1400" dirty="0"/>
              <a:t>(y)</a:t>
            </a:r>
          </a:p>
          <a:p>
            <a:r>
              <a:rPr lang="en-IN" sz="1400" dirty="0" err="1"/>
              <a:t>X_train</a:t>
            </a:r>
            <a:r>
              <a:rPr lang="en-IN" sz="1400" dirty="0"/>
              <a:t>, </a:t>
            </a:r>
            <a:r>
              <a:rPr lang="en-IN" sz="1400" dirty="0" err="1"/>
              <a:t>X_test</a:t>
            </a:r>
            <a:r>
              <a:rPr lang="en-IN" sz="1400" dirty="0"/>
              <a:t>, </a:t>
            </a:r>
            <a:r>
              <a:rPr lang="en-IN" sz="1400" dirty="0" err="1"/>
              <a:t>y_train</a:t>
            </a:r>
            <a:r>
              <a:rPr lang="en-IN" sz="1400" dirty="0"/>
              <a:t>, </a:t>
            </a:r>
            <a:r>
              <a:rPr lang="en-IN" sz="1400" dirty="0" err="1"/>
              <a:t>y_test</a:t>
            </a:r>
            <a:r>
              <a:rPr lang="en-IN" sz="1400" dirty="0"/>
              <a:t> = </a:t>
            </a:r>
            <a:r>
              <a:rPr lang="en-IN" sz="1400" dirty="0" err="1"/>
              <a:t>train_test_split</a:t>
            </a:r>
            <a:r>
              <a:rPr lang="en-IN" sz="1400" dirty="0"/>
              <a:t>(X, </a:t>
            </a:r>
            <a:r>
              <a:rPr lang="en-IN" sz="1400" dirty="0" err="1"/>
              <a:t>y_encoded</a:t>
            </a:r>
            <a:r>
              <a:rPr lang="en-IN" sz="1400" dirty="0"/>
              <a:t>, </a:t>
            </a:r>
            <a:r>
              <a:rPr lang="en-IN" sz="1400" dirty="0" err="1"/>
              <a:t>test_size</a:t>
            </a:r>
            <a:r>
              <a:rPr lang="en-IN" sz="1400" dirty="0"/>
              <a:t>=0.2, </a:t>
            </a:r>
            <a:r>
              <a:rPr lang="en-IN" sz="1400" dirty="0" err="1"/>
              <a:t>random_state</a:t>
            </a:r>
            <a:r>
              <a:rPr lang="en-IN" sz="1400" dirty="0"/>
              <a:t>=42)</a:t>
            </a:r>
          </a:p>
          <a:p>
            <a:r>
              <a:rPr lang="en-IN" sz="1400" dirty="0"/>
              <a:t># Train models</a:t>
            </a:r>
          </a:p>
          <a:p>
            <a:r>
              <a:rPr lang="en-IN" sz="1400" dirty="0" err="1"/>
              <a:t>rf_model</a:t>
            </a:r>
            <a:r>
              <a:rPr lang="en-IN" sz="1400" dirty="0"/>
              <a:t> = </a:t>
            </a:r>
            <a:r>
              <a:rPr lang="en-IN" sz="1400" dirty="0" err="1"/>
              <a:t>RandomForestClassifier</a:t>
            </a:r>
            <a:r>
              <a:rPr lang="en-IN" sz="1400" dirty="0"/>
              <a:t>(</a:t>
            </a:r>
            <a:r>
              <a:rPr lang="en-IN" sz="1400" dirty="0" err="1"/>
              <a:t>n_estimators</a:t>
            </a:r>
            <a:r>
              <a:rPr lang="en-IN" sz="1400" dirty="0"/>
              <a:t>=100, </a:t>
            </a:r>
            <a:r>
              <a:rPr lang="en-IN" sz="1400" dirty="0" err="1"/>
              <a:t>random_state</a:t>
            </a:r>
            <a:r>
              <a:rPr lang="en-IN" sz="1400" dirty="0"/>
              <a:t>=42)</a:t>
            </a:r>
          </a:p>
          <a:p>
            <a:r>
              <a:rPr lang="en-IN" sz="1400" dirty="0" err="1"/>
              <a:t>rf_model.fit</a:t>
            </a:r>
            <a:r>
              <a:rPr lang="en-IN" sz="1400" dirty="0"/>
              <a:t>(</a:t>
            </a:r>
            <a:r>
              <a:rPr lang="en-IN" sz="1400" dirty="0" err="1"/>
              <a:t>X_train</a:t>
            </a:r>
            <a:r>
              <a:rPr lang="en-IN" sz="1400" dirty="0"/>
              <a:t>, </a:t>
            </a:r>
            <a:r>
              <a:rPr lang="en-IN" sz="1400" dirty="0" err="1"/>
              <a:t>y_train</a:t>
            </a:r>
            <a:r>
              <a:rPr lang="en-IN" sz="1400" dirty="0"/>
              <a:t>)</a:t>
            </a:r>
          </a:p>
          <a:p>
            <a:endParaRPr lang="en-IN" sz="1400" dirty="0"/>
          </a:p>
          <a:p>
            <a:r>
              <a:rPr lang="en-IN" sz="1400" dirty="0" err="1"/>
              <a:t>svm_model</a:t>
            </a:r>
            <a:r>
              <a:rPr lang="en-IN" sz="1400" dirty="0"/>
              <a:t> = SVC(kernel='linear')</a:t>
            </a:r>
          </a:p>
          <a:p>
            <a:r>
              <a:rPr lang="en-IN" sz="1400" dirty="0" err="1"/>
              <a:t>svm_model.fit</a:t>
            </a:r>
            <a:r>
              <a:rPr lang="en-IN" sz="1400" dirty="0"/>
              <a:t>(</a:t>
            </a:r>
            <a:r>
              <a:rPr lang="en-IN" sz="1400" dirty="0" err="1"/>
              <a:t>X_train</a:t>
            </a:r>
            <a:r>
              <a:rPr lang="en-IN" sz="1400" dirty="0"/>
              <a:t>, </a:t>
            </a:r>
            <a:r>
              <a:rPr lang="en-IN" sz="1400" dirty="0" err="1"/>
              <a:t>y_train</a:t>
            </a:r>
            <a:r>
              <a:rPr lang="en-IN" sz="1400" dirty="0"/>
              <a:t>)</a:t>
            </a:r>
          </a:p>
          <a:p>
            <a:endParaRPr lang="en-IN" sz="1400" dirty="0"/>
          </a:p>
          <a:p>
            <a:r>
              <a:rPr lang="en-IN" sz="1400" dirty="0" err="1"/>
              <a:t>nb_model</a:t>
            </a:r>
            <a:r>
              <a:rPr lang="en-IN" sz="1400" dirty="0"/>
              <a:t> = </a:t>
            </a:r>
            <a:r>
              <a:rPr lang="en-IN" sz="1400" dirty="0" err="1"/>
              <a:t>GaussianNB</a:t>
            </a:r>
            <a:r>
              <a:rPr lang="en-IN" sz="1400" dirty="0"/>
              <a:t>()</a:t>
            </a:r>
          </a:p>
          <a:p>
            <a:r>
              <a:rPr lang="en-IN" sz="1400" dirty="0" err="1"/>
              <a:t>nb_model.fit</a:t>
            </a:r>
            <a:r>
              <a:rPr lang="en-IN" sz="1400" dirty="0"/>
              <a:t>(</a:t>
            </a:r>
            <a:r>
              <a:rPr lang="en-IN" sz="1400" dirty="0" err="1"/>
              <a:t>X_train</a:t>
            </a:r>
            <a:r>
              <a:rPr lang="en-IN" sz="1400" dirty="0"/>
              <a:t>, </a:t>
            </a:r>
            <a:r>
              <a:rPr lang="en-IN" sz="1400" dirty="0" err="1"/>
              <a:t>y_train</a:t>
            </a:r>
            <a:r>
              <a:rPr lang="en-IN" sz="1400" dirty="0"/>
              <a:t>)</a:t>
            </a:r>
          </a:p>
          <a:p>
            <a:endParaRPr lang="en-IN" sz="1400" dirty="0"/>
          </a:p>
          <a:p>
            <a:endParaRPr lang="en-IN" sz="1400" dirty="0"/>
          </a:p>
          <a:p>
            <a:endParaRPr lang="en-IN" sz="1400" dirty="0"/>
          </a:p>
          <a:p>
            <a:endParaRPr lang="en-IN" sz="1400" dirty="0"/>
          </a:p>
        </p:txBody>
      </p:sp>
    </p:spTree>
    <p:extLst>
      <p:ext uri="{BB962C8B-B14F-4D97-AF65-F5344CB8AC3E}">
        <p14:creationId xmlns:p14="http://schemas.microsoft.com/office/powerpoint/2010/main" val="304979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3CC3-E57B-7C0A-1A60-D1B7AFBA97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7594D3-6118-1F2F-651B-7F6A7F046F7E}"/>
              </a:ext>
            </a:extLst>
          </p:cNvPr>
          <p:cNvSpPr txBox="1"/>
          <p:nvPr/>
        </p:nvSpPr>
        <p:spPr>
          <a:xfrm>
            <a:off x="822960" y="193040"/>
            <a:ext cx="10495280" cy="7201972"/>
          </a:xfrm>
          <a:prstGeom prst="rect">
            <a:avLst/>
          </a:prstGeom>
          <a:noFill/>
        </p:spPr>
        <p:txBody>
          <a:bodyPr wrap="square" rtlCol="0">
            <a:spAutoFit/>
          </a:bodyPr>
          <a:lstStyle/>
          <a:p>
            <a:endParaRPr lang="en-IN" sz="1400" dirty="0"/>
          </a:p>
          <a:p>
            <a:r>
              <a:rPr lang="en-IN" sz="1400" dirty="0"/>
              <a:t># Save models</a:t>
            </a:r>
          </a:p>
          <a:p>
            <a:r>
              <a:rPr lang="en-IN" sz="1400" dirty="0" err="1"/>
              <a:t>joblib.dump</a:t>
            </a:r>
            <a:r>
              <a:rPr lang="en-IN" sz="1400" dirty="0"/>
              <a:t>(</a:t>
            </a:r>
            <a:r>
              <a:rPr lang="en-IN" sz="1400" dirty="0" err="1"/>
              <a:t>rf_model</a:t>
            </a:r>
            <a:r>
              <a:rPr lang="en-IN" sz="1400" dirty="0"/>
              <a:t>, '</a:t>
            </a:r>
            <a:r>
              <a:rPr lang="en-IN" sz="1400" dirty="0" err="1"/>
              <a:t>random_forest.pkl</a:t>
            </a:r>
            <a:r>
              <a:rPr lang="en-IN" sz="1400" dirty="0"/>
              <a:t>')</a:t>
            </a:r>
          </a:p>
          <a:p>
            <a:r>
              <a:rPr lang="en-IN" sz="1400" dirty="0" err="1"/>
              <a:t>joblib.dump</a:t>
            </a:r>
            <a:r>
              <a:rPr lang="en-IN" sz="1400" dirty="0"/>
              <a:t>(</a:t>
            </a:r>
            <a:r>
              <a:rPr lang="en-IN" sz="1400" dirty="0" err="1"/>
              <a:t>svm_model</a:t>
            </a:r>
            <a:r>
              <a:rPr lang="en-IN" sz="1400" dirty="0"/>
              <a:t>, '</a:t>
            </a:r>
            <a:r>
              <a:rPr lang="en-IN" sz="1400" dirty="0" err="1"/>
              <a:t>svm.pkl</a:t>
            </a:r>
            <a:r>
              <a:rPr lang="en-IN" sz="1400" dirty="0"/>
              <a:t>')</a:t>
            </a:r>
          </a:p>
          <a:p>
            <a:r>
              <a:rPr lang="en-IN" sz="1400" dirty="0" err="1"/>
              <a:t>joblib.dump</a:t>
            </a:r>
            <a:r>
              <a:rPr lang="en-IN" sz="1400" dirty="0"/>
              <a:t>(</a:t>
            </a:r>
            <a:r>
              <a:rPr lang="en-IN" sz="1400" dirty="0" err="1"/>
              <a:t>nb_model</a:t>
            </a:r>
            <a:r>
              <a:rPr lang="en-IN" sz="1400" dirty="0"/>
              <a:t>, '</a:t>
            </a:r>
            <a:r>
              <a:rPr lang="en-IN" sz="1400" dirty="0" err="1"/>
              <a:t>naive_bayes.pkl</a:t>
            </a:r>
            <a:r>
              <a:rPr lang="en-IN" sz="1400" dirty="0"/>
              <a:t>’)</a:t>
            </a:r>
          </a:p>
          <a:p>
            <a:endParaRPr lang="en-IN" sz="1400" dirty="0"/>
          </a:p>
          <a:p>
            <a:r>
              <a:rPr lang="en-IN" sz="1400" dirty="0"/>
              <a:t># Evaluation</a:t>
            </a:r>
          </a:p>
          <a:p>
            <a:r>
              <a:rPr lang="en-IN" sz="1400" dirty="0" err="1"/>
              <a:t>rf_pred</a:t>
            </a:r>
            <a:r>
              <a:rPr lang="en-IN" sz="1400" dirty="0"/>
              <a:t> = </a:t>
            </a:r>
            <a:r>
              <a:rPr lang="en-IN" sz="1400" dirty="0" err="1"/>
              <a:t>rf_model.predict</a:t>
            </a:r>
            <a:r>
              <a:rPr lang="en-IN" sz="1400" dirty="0"/>
              <a:t>(</a:t>
            </a:r>
            <a:r>
              <a:rPr lang="en-IN" sz="1400" dirty="0" err="1"/>
              <a:t>X_test</a:t>
            </a:r>
            <a:r>
              <a:rPr lang="en-IN" sz="1400" dirty="0"/>
              <a:t>)</a:t>
            </a:r>
          </a:p>
          <a:p>
            <a:r>
              <a:rPr lang="en-IN" sz="1400" dirty="0" err="1"/>
              <a:t>svm_pred</a:t>
            </a:r>
            <a:r>
              <a:rPr lang="en-IN" sz="1400" dirty="0"/>
              <a:t> = </a:t>
            </a:r>
            <a:r>
              <a:rPr lang="en-IN" sz="1400" dirty="0" err="1"/>
              <a:t>svm_model.predict</a:t>
            </a:r>
            <a:r>
              <a:rPr lang="en-IN" sz="1400" dirty="0"/>
              <a:t>(</a:t>
            </a:r>
            <a:r>
              <a:rPr lang="en-IN" sz="1400" dirty="0" err="1"/>
              <a:t>X_test</a:t>
            </a:r>
            <a:r>
              <a:rPr lang="en-IN" sz="1400" dirty="0"/>
              <a:t>)</a:t>
            </a:r>
          </a:p>
          <a:p>
            <a:r>
              <a:rPr lang="en-IN" sz="1400" dirty="0" err="1"/>
              <a:t>nb_pred</a:t>
            </a:r>
            <a:r>
              <a:rPr lang="en-IN" sz="1400" dirty="0"/>
              <a:t> = </a:t>
            </a:r>
            <a:r>
              <a:rPr lang="en-IN" sz="1400" dirty="0" err="1"/>
              <a:t>nb_model.predict</a:t>
            </a:r>
            <a:r>
              <a:rPr lang="en-IN" sz="1400" dirty="0"/>
              <a:t>(</a:t>
            </a:r>
            <a:r>
              <a:rPr lang="en-IN" sz="1400" dirty="0" err="1"/>
              <a:t>X_test</a:t>
            </a:r>
            <a:r>
              <a:rPr lang="en-IN" sz="1400" dirty="0"/>
              <a:t>)</a:t>
            </a:r>
          </a:p>
          <a:p>
            <a:endParaRPr lang="en-IN" sz="1400" dirty="0"/>
          </a:p>
          <a:p>
            <a:r>
              <a:rPr lang="en-IN" sz="1400" dirty="0"/>
              <a:t>print("Random Forest Accuracy:", </a:t>
            </a:r>
            <a:r>
              <a:rPr lang="en-IN" sz="1400" dirty="0" err="1"/>
              <a:t>accuracy_score</a:t>
            </a:r>
            <a:r>
              <a:rPr lang="en-IN" sz="1400" dirty="0"/>
              <a:t>(</a:t>
            </a:r>
            <a:r>
              <a:rPr lang="en-IN" sz="1400" dirty="0" err="1"/>
              <a:t>y_test</a:t>
            </a:r>
            <a:r>
              <a:rPr lang="en-IN" sz="1400" dirty="0"/>
              <a:t>, </a:t>
            </a:r>
            <a:r>
              <a:rPr lang="en-IN" sz="1400" dirty="0" err="1"/>
              <a:t>rf_pred</a:t>
            </a:r>
            <a:r>
              <a:rPr lang="en-IN" sz="1400" dirty="0"/>
              <a:t>))</a:t>
            </a:r>
          </a:p>
          <a:p>
            <a:r>
              <a:rPr lang="en-IN" sz="1400" dirty="0"/>
              <a:t>print("SVM Accuracy:", </a:t>
            </a:r>
            <a:r>
              <a:rPr lang="en-IN" sz="1400" dirty="0" err="1"/>
              <a:t>accuracy_score</a:t>
            </a:r>
            <a:r>
              <a:rPr lang="en-IN" sz="1400" dirty="0"/>
              <a:t>(</a:t>
            </a:r>
            <a:r>
              <a:rPr lang="en-IN" sz="1400" dirty="0" err="1"/>
              <a:t>y_test</a:t>
            </a:r>
            <a:r>
              <a:rPr lang="en-IN" sz="1400" dirty="0"/>
              <a:t>, </a:t>
            </a:r>
            <a:r>
              <a:rPr lang="en-IN" sz="1400" dirty="0" err="1"/>
              <a:t>svm_pred</a:t>
            </a:r>
            <a:r>
              <a:rPr lang="en-IN" sz="1400" dirty="0"/>
              <a:t>))</a:t>
            </a:r>
          </a:p>
          <a:p>
            <a:r>
              <a:rPr lang="en-IN" sz="1400" dirty="0"/>
              <a:t>print("Naive Bayes Accuracy:", </a:t>
            </a:r>
            <a:r>
              <a:rPr lang="en-IN" sz="1400" dirty="0" err="1"/>
              <a:t>accuracy_score</a:t>
            </a:r>
            <a:r>
              <a:rPr lang="en-IN" sz="1400" dirty="0"/>
              <a:t>(</a:t>
            </a:r>
            <a:r>
              <a:rPr lang="en-IN" sz="1400" dirty="0" err="1"/>
              <a:t>y_test</a:t>
            </a:r>
            <a:r>
              <a:rPr lang="en-IN" sz="1400" dirty="0"/>
              <a:t>, </a:t>
            </a:r>
            <a:r>
              <a:rPr lang="en-IN" sz="1400" dirty="0" err="1"/>
              <a:t>nb_pred</a:t>
            </a:r>
            <a:r>
              <a:rPr lang="en-IN" sz="1400" dirty="0"/>
              <a:t>))</a:t>
            </a:r>
          </a:p>
          <a:p>
            <a:endParaRPr lang="en-IN" sz="1400" dirty="0"/>
          </a:p>
          <a:p>
            <a:r>
              <a:rPr lang="en-IN" sz="1400" dirty="0"/>
              <a:t># Predict emotion</a:t>
            </a:r>
          </a:p>
          <a:p>
            <a:r>
              <a:rPr lang="en-IN" sz="1400" dirty="0"/>
              <a:t>def </a:t>
            </a:r>
            <a:r>
              <a:rPr lang="en-IN" sz="1400" dirty="0" err="1"/>
              <a:t>predict_emotion</a:t>
            </a:r>
            <a:r>
              <a:rPr lang="en-IN" sz="1400" dirty="0"/>
              <a:t>(</a:t>
            </a:r>
            <a:r>
              <a:rPr lang="en-IN" sz="1400" dirty="0" err="1"/>
              <a:t>file_name</a:t>
            </a:r>
            <a:r>
              <a:rPr lang="en-IN" sz="1400" dirty="0"/>
              <a:t>, model):</a:t>
            </a:r>
          </a:p>
          <a:p>
            <a:r>
              <a:rPr lang="en-IN" sz="1400" dirty="0"/>
              <a:t>    features = </a:t>
            </a:r>
            <a:r>
              <a:rPr lang="en-IN" sz="1400" dirty="0" err="1"/>
              <a:t>extract_features</a:t>
            </a:r>
            <a:r>
              <a:rPr lang="en-IN" sz="1400" dirty="0"/>
              <a:t>(</a:t>
            </a:r>
            <a:r>
              <a:rPr lang="en-IN" sz="1400" dirty="0" err="1"/>
              <a:t>file_name</a:t>
            </a:r>
            <a:r>
              <a:rPr lang="en-IN" sz="1400" dirty="0"/>
              <a:t>).reshape(1, -1)</a:t>
            </a:r>
          </a:p>
          <a:p>
            <a:r>
              <a:rPr lang="en-IN" sz="1400" dirty="0"/>
              <a:t>    prediction = </a:t>
            </a:r>
            <a:r>
              <a:rPr lang="en-IN" sz="1400" dirty="0" err="1"/>
              <a:t>model.predict</a:t>
            </a:r>
            <a:r>
              <a:rPr lang="en-IN" sz="1400" dirty="0"/>
              <a:t>(features)</a:t>
            </a:r>
          </a:p>
          <a:p>
            <a:r>
              <a:rPr lang="en-IN" sz="1400" dirty="0"/>
              <a:t>    return </a:t>
            </a:r>
            <a:r>
              <a:rPr lang="en-IN" sz="1400" dirty="0" err="1"/>
              <a:t>emotion_labels</a:t>
            </a:r>
            <a:r>
              <a:rPr lang="en-IN" sz="1400" dirty="0"/>
              <a:t>[prediction[0]]  # Convert prediction index to label</a:t>
            </a:r>
          </a:p>
          <a:p>
            <a:endParaRPr lang="en-IN" sz="1400" dirty="0"/>
          </a:p>
          <a:p>
            <a:r>
              <a:rPr lang="en-IN" sz="1400" dirty="0"/>
              <a:t># Live voice input</a:t>
            </a:r>
          </a:p>
          <a:p>
            <a:r>
              <a:rPr lang="en-IN" sz="1400" dirty="0"/>
              <a:t>def </a:t>
            </a:r>
            <a:r>
              <a:rPr lang="en-IN" sz="1400" dirty="0" err="1"/>
              <a:t>live_voice_input</a:t>
            </a:r>
            <a:r>
              <a:rPr lang="en-IN" sz="1400" dirty="0"/>
              <a:t>():</a:t>
            </a:r>
          </a:p>
          <a:p>
            <a:r>
              <a:rPr lang="en-IN" sz="1400" dirty="0"/>
              <a:t>    recognizer = </a:t>
            </a:r>
            <a:r>
              <a:rPr lang="en-IN" sz="1400" dirty="0" err="1"/>
              <a:t>sr.Recognizer</a:t>
            </a:r>
            <a:r>
              <a:rPr lang="en-IN" sz="1400" dirty="0"/>
              <a:t>()</a:t>
            </a:r>
          </a:p>
          <a:p>
            <a:r>
              <a:rPr lang="en-IN" sz="1400" dirty="0"/>
              <a:t>    with </a:t>
            </a:r>
            <a:r>
              <a:rPr lang="en-IN" sz="1400" dirty="0" err="1"/>
              <a:t>sr.Microphone</a:t>
            </a:r>
            <a:r>
              <a:rPr lang="en-IN" sz="1400" dirty="0"/>
              <a:t>() as source:</a:t>
            </a:r>
          </a:p>
          <a:p>
            <a:r>
              <a:rPr lang="en-IN" sz="1400" dirty="0"/>
              <a:t>        </a:t>
            </a:r>
            <a:r>
              <a:rPr lang="en-IN" sz="1400" dirty="0" err="1"/>
              <a:t>recognizer.adjust_for_ambient_noise</a:t>
            </a:r>
            <a:r>
              <a:rPr lang="en-IN" sz="1400" dirty="0"/>
              <a:t>(source)</a:t>
            </a:r>
          </a:p>
          <a:p>
            <a:r>
              <a:rPr lang="en-IN" sz="1400" dirty="0"/>
              <a:t>        print("Please speak...")</a:t>
            </a:r>
          </a:p>
          <a:p>
            <a:r>
              <a:rPr lang="en-IN" sz="1400" dirty="0"/>
              <a:t>        audio = </a:t>
            </a:r>
            <a:r>
              <a:rPr lang="en-IN" sz="1400" dirty="0" err="1"/>
              <a:t>recognizer.listen</a:t>
            </a:r>
            <a:r>
              <a:rPr lang="en-IN" sz="1400" dirty="0"/>
              <a:t>(source)</a:t>
            </a:r>
          </a:p>
          <a:p>
            <a:r>
              <a:rPr lang="en-IN" sz="1400" dirty="0"/>
              <a:t>        print("Audio captured, processing...")</a:t>
            </a:r>
          </a:p>
          <a:p>
            <a:r>
              <a:rPr lang="en-IN" sz="1400" dirty="0"/>
              <a:t>    return audio</a:t>
            </a:r>
          </a:p>
          <a:p>
            <a:endParaRPr lang="en-IN" sz="1400" dirty="0"/>
          </a:p>
          <a:p>
            <a:endParaRPr lang="en-IN" sz="1400" dirty="0"/>
          </a:p>
          <a:p>
            <a:endParaRPr lang="en-IN" sz="1400" dirty="0"/>
          </a:p>
        </p:txBody>
      </p:sp>
    </p:spTree>
    <p:extLst>
      <p:ext uri="{BB962C8B-B14F-4D97-AF65-F5344CB8AC3E}">
        <p14:creationId xmlns:p14="http://schemas.microsoft.com/office/powerpoint/2010/main" val="4228178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72077-EB2A-0C05-ADBF-7A267CF3C8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BB33B1-8088-9EBC-608E-EADFB17A3C1E}"/>
              </a:ext>
            </a:extLst>
          </p:cNvPr>
          <p:cNvSpPr txBox="1"/>
          <p:nvPr/>
        </p:nvSpPr>
        <p:spPr>
          <a:xfrm>
            <a:off x="461554" y="267270"/>
            <a:ext cx="10495280" cy="6124754"/>
          </a:xfrm>
          <a:prstGeom prst="rect">
            <a:avLst/>
          </a:prstGeom>
          <a:noFill/>
        </p:spPr>
        <p:txBody>
          <a:bodyPr wrap="square" rtlCol="0">
            <a:spAutoFit/>
          </a:bodyPr>
          <a:lstStyle/>
          <a:p>
            <a:r>
              <a:rPr lang="en-IN" sz="1400" dirty="0"/>
              <a:t>def </a:t>
            </a:r>
            <a:r>
              <a:rPr lang="en-IN" sz="1400" dirty="0" err="1"/>
              <a:t>predict_live_emotion</a:t>
            </a:r>
            <a:r>
              <a:rPr lang="en-IN" sz="1400" dirty="0"/>
              <a:t>():</a:t>
            </a:r>
          </a:p>
          <a:p>
            <a:r>
              <a:rPr lang="en-IN" sz="1400" dirty="0"/>
              <a:t>    </a:t>
            </a:r>
            <a:r>
              <a:rPr lang="en-IN" sz="1400" dirty="0" err="1"/>
              <a:t>audio_data</a:t>
            </a:r>
            <a:r>
              <a:rPr lang="en-IN" sz="1400" dirty="0"/>
              <a:t> = </a:t>
            </a:r>
            <a:r>
              <a:rPr lang="en-IN" sz="1400" dirty="0" err="1"/>
              <a:t>live_voice_input</a:t>
            </a:r>
            <a:r>
              <a:rPr lang="en-IN" sz="1400" dirty="0"/>
              <a:t>()</a:t>
            </a:r>
          </a:p>
          <a:p>
            <a:r>
              <a:rPr lang="en-IN" sz="1400" dirty="0"/>
              <a:t>    </a:t>
            </a:r>
            <a:r>
              <a:rPr lang="en-IN" sz="1400" dirty="0" err="1"/>
              <a:t>audio_stream</a:t>
            </a:r>
            <a:r>
              <a:rPr lang="en-IN" sz="1400" dirty="0"/>
              <a:t> = </a:t>
            </a:r>
            <a:r>
              <a:rPr lang="en-IN" sz="1400" dirty="0" err="1"/>
              <a:t>io.BytesIO</a:t>
            </a:r>
            <a:r>
              <a:rPr lang="en-IN" sz="1400" dirty="0"/>
              <a:t>(</a:t>
            </a:r>
            <a:r>
              <a:rPr lang="en-IN" sz="1400" dirty="0" err="1"/>
              <a:t>audio_data.get_wav_data</a:t>
            </a:r>
            <a:r>
              <a:rPr lang="en-IN" sz="1400" dirty="0"/>
              <a:t>())</a:t>
            </a:r>
          </a:p>
          <a:p>
            <a:r>
              <a:rPr lang="en-IN" sz="1400" dirty="0"/>
              <a:t>    features = </a:t>
            </a:r>
            <a:r>
              <a:rPr lang="en-IN" sz="1400" dirty="0" err="1"/>
              <a:t>extract_features</a:t>
            </a:r>
            <a:r>
              <a:rPr lang="en-IN" sz="1400" dirty="0"/>
              <a:t>(</a:t>
            </a:r>
            <a:r>
              <a:rPr lang="en-IN" sz="1400" dirty="0" err="1"/>
              <a:t>audio_stream</a:t>
            </a:r>
            <a:r>
              <a:rPr lang="en-IN" sz="1400" dirty="0"/>
              <a:t>).reshape(1, -1)</a:t>
            </a:r>
          </a:p>
          <a:p>
            <a:r>
              <a:rPr lang="en-IN" sz="1400" dirty="0"/>
              <a:t>    model = </a:t>
            </a:r>
            <a:r>
              <a:rPr lang="en-IN" sz="1400" dirty="0" err="1"/>
              <a:t>joblib.load</a:t>
            </a:r>
            <a:r>
              <a:rPr lang="en-IN" sz="1400" dirty="0"/>
              <a:t>('</a:t>
            </a:r>
            <a:r>
              <a:rPr lang="en-IN" sz="1400" dirty="0" err="1"/>
              <a:t>random_forest.pkl</a:t>
            </a:r>
            <a:r>
              <a:rPr lang="en-IN" sz="1400" dirty="0"/>
              <a:t>')  # You can switch models</a:t>
            </a:r>
          </a:p>
          <a:p>
            <a:r>
              <a:rPr lang="en-IN" sz="1400" dirty="0"/>
              <a:t>    prediction = </a:t>
            </a:r>
            <a:r>
              <a:rPr lang="en-IN" sz="1400" dirty="0" err="1"/>
              <a:t>model.predict</a:t>
            </a:r>
            <a:r>
              <a:rPr lang="en-IN" sz="1400" dirty="0"/>
              <a:t>(features)</a:t>
            </a:r>
          </a:p>
          <a:p>
            <a:r>
              <a:rPr lang="en-IN" sz="1400" dirty="0"/>
              <a:t>    emotion = </a:t>
            </a:r>
            <a:r>
              <a:rPr lang="en-IN" sz="1400" dirty="0" err="1"/>
              <a:t>emotion_labels</a:t>
            </a:r>
            <a:r>
              <a:rPr lang="en-IN" sz="1400" dirty="0"/>
              <a:t>[prediction[0]]</a:t>
            </a:r>
          </a:p>
          <a:p>
            <a:endParaRPr lang="en-IN" sz="1400" dirty="0"/>
          </a:p>
          <a:p>
            <a:r>
              <a:rPr lang="en-IN" sz="1400" dirty="0"/>
              <a:t>    # Convert speech to text</a:t>
            </a:r>
          </a:p>
          <a:p>
            <a:r>
              <a:rPr lang="en-IN" sz="1400" dirty="0"/>
              <a:t>    transcription = </a:t>
            </a:r>
            <a:r>
              <a:rPr lang="en-IN" sz="1400" dirty="0" err="1"/>
              <a:t>speech_to_text</a:t>
            </a:r>
            <a:r>
              <a:rPr lang="en-IN" sz="1400" dirty="0"/>
              <a:t>(</a:t>
            </a:r>
            <a:r>
              <a:rPr lang="en-IN" sz="1400" dirty="0" err="1"/>
              <a:t>io.BytesIO</a:t>
            </a:r>
            <a:r>
              <a:rPr lang="en-IN" sz="1400" dirty="0"/>
              <a:t>(</a:t>
            </a:r>
            <a:r>
              <a:rPr lang="en-IN" sz="1400" dirty="0" err="1"/>
              <a:t>audio_data.get_wav_data</a:t>
            </a:r>
            <a:r>
              <a:rPr lang="en-IN" sz="1400" dirty="0"/>
              <a:t>()))</a:t>
            </a:r>
          </a:p>
          <a:p>
            <a:endParaRPr lang="en-IN" sz="1400" dirty="0"/>
          </a:p>
          <a:p>
            <a:r>
              <a:rPr lang="en-IN" sz="1400" dirty="0"/>
              <a:t>    # Update the GUI with results</a:t>
            </a:r>
          </a:p>
          <a:p>
            <a:r>
              <a:rPr lang="en-IN" sz="1400" dirty="0"/>
              <a:t>    </a:t>
            </a:r>
            <a:r>
              <a:rPr lang="en-IN" sz="1400" dirty="0" err="1"/>
              <a:t>label_result.config</a:t>
            </a:r>
            <a:r>
              <a:rPr lang="en-IN" sz="1400" dirty="0"/>
              <a:t>(text=</a:t>
            </a:r>
            <a:r>
              <a:rPr lang="en-IN" sz="1400" dirty="0" err="1"/>
              <a:t>f"Predicted</a:t>
            </a:r>
            <a:r>
              <a:rPr lang="en-IN" sz="1400" dirty="0"/>
              <a:t> Emotion: {emotion}\</a:t>
            </a:r>
            <a:r>
              <a:rPr lang="en-IN" sz="1400" dirty="0" err="1"/>
              <a:t>nTranscribed</a:t>
            </a:r>
            <a:r>
              <a:rPr lang="en-IN" sz="1400" dirty="0"/>
              <a:t> Text: {transcription}")</a:t>
            </a:r>
          </a:p>
          <a:p>
            <a:r>
              <a:rPr lang="en-IN" sz="1400" dirty="0"/>
              <a:t>def </a:t>
            </a:r>
            <a:r>
              <a:rPr lang="en-IN" sz="1400" dirty="0" err="1"/>
              <a:t>load_model_and_predict</a:t>
            </a:r>
            <a:r>
              <a:rPr lang="en-IN" sz="1400" dirty="0"/>
              <a:t>():</a:t>
            </a:r>
          </a:p>
          <a:p>
            <a:r>
              <a:rPr lang="en-IN" sz="1400" dirty="0"/>
              <a:t>    </a:t>
            </a:r>
            <a:r>
              <a:rPr lang="en-IN" sz="1400" dirty="0" err="1"/>
              <a:t>file_path</a:t>
            </a:r>
            <a:r>
              <a:rPr lang="en-IN" sz="1400" dirty="0"/>
              <a:t> = </a:t>
            </a:r>
            <a:r>
              <a:rPr lang="en-IN" sz="1400" dirty="0" err="1"/>
              <a:t>filedialog.askopenfilename</a:t>
            </a:r>
            <a:r>
              <a:rPr lang="en-IN" sz="1400" dirty="0"/>
              <a:t>()</a:t>
            </a:r>
          </a:p>
          <a:p>
            <a:r>
              <a:rPr lang="en-IN" sz="1400" dirty="0"/>
              <a:t>    </a:t>
            </a:r>
          </a:p>
          <a:p>
            <a:r>
              <a:rPr lang="en-IN" sz="1400" dirty="0"/>
              <a:t>    # Predict emotion</a:t>
            </a:r>
          </a:p>
          <a:p>
            <a:r>
              <a:rPr lang="en-IN" sz="1400" dirty="0"/>
              <a:t>    model = </a:t>
            </a:r>
            <a:r>
              <a:rPr lang="en-IN" sz="1400" dirty="0" err="1"/>
              <a:t>joblib.load</a:t>
            </a:r>
            <a:r>
              <a:rPr lang="en-IN" sz="1400" dirty="0"/>
              <a:t>('</a:t>
            </a:r>
            <a:r>
              <a:rPr lang="en-IN" sz="1400" dirty="0" err="1"/>
              <a:t>random_forest.pkl</a:t>
            </a:r>
            <a:r>
              <a:rPr lang="en-IN" sz="1400" dirty="0"/>
              <a:t>')  # You can switch models</a:t>
            </a:r>
          </a:p>
          <a:p>
            <a:r>
              <a:rPr lang="en-IN" sz="1400" dirty="0"/>
              <a:t>    emotion = </a:t>
            </a:r>
            <a:r>
              <a:rPr lang="en-IN" sz="1400" dirty="0" err="1"/>
              <a:t>predict_emotion</a:t>
            </a:r>
            <a:r>
              <a:rPr lang="en-IN" sz="1400" dirty="0"/>
              <a:t>(</a:t>
            </a:r>
            <a:r>
              <a:rPr lang="en-IN" sz="1400" dirty="0" err="1"/>
              <a:t>file_path</a:t>
            </a:r>
            <a:r>
              <a:rPr lang="en-IN" sz="1400" dirty="0"/>
              <a:t>, model)</a:t>
            </a:r>
          </a:p>
          <a:p>
            <a:r>
              <a:rPr lang="en-IN" sz="1400" dirty="0"/>
              <a:t>    </a:t>
            </a:r>
          </a:p>
          <a:p>
            <a:r>
              <a:rPr lang="en-IN" sz="1400" dirty="0"/>
              <a:t>    # Get the speech-to-text result</a:t>
            </a:r>
          </a:p>
          <a:p>
            <a:r>
              <a:rPr lang="en-IN" sz="1400" dirty="0"/>
              <a:t>    transcription = </a:t>
            </a:r>
            <a:r>
              <a:rPr lang="en-IN" sz="1400" dirty="0" err="1"/>
              <a:t>speech_to_text</a:t>
            </a:r>
            <a:r>
              <a:rPr lang="en-IN" sz="1400" dirty="0"/>
              <a:t>(</a:t>
            </a:r>
            <a:r>
              <a:rPr lang="en-IN" sz="1400" dirty="0" err="1"/>
              <a:t>file_path</a:t>
            </a:r>
            <a:r>
              <a:rPr lang="en-IN" sz="1400" dirty="0"/>
              <a:t>)</a:t>
            </a:r>
          </a:p>
          <a:p>
            <a:r>
              <a:rPr lang="en-IN" sz="1400" dirty="0"/>
              <a:t>    </a:t>
            </a:r>
          </a:p>
          <a:p>
            <a:r>
              <a:rPr lang="en-IN" sz="1400" dirty="0"/>
              <a:t>    # Update the GUI with results</a:t>
            </a:r>
          </a:p>
          <a:p>
            <a:r>
              <a:rPr lang="en-IN" sz="1400" dirty="0"/>
              <a:t>    </a:t>
            </a:r>
            <a:r>
              <a:rPr lang="en-IN" sz="1400" dirty="0" err="1"/>
              <a:t>label_result.config</a:t>
            </a:r>
            <a:r>
              <a:rPr lang="en-IN" sz="1400" dirty="0"/>
              <a:t>(text=</a:t>
            </a:r>
            <a:r>
              <a:rPr lang="en-IN" sz="1400" dirty="0" err="1"/>
              <a:t>f"Predicted</a:t>
            </a:r>
            <a:r>
              <a:rPr lang="en-IN" sz="1400" dirty="0"/>
              <a:t> Emotion: {emotion}\</a:t>
            </a:r>
            <a:r>
              <a:rPr lang="en-IN" sz="1400" dirty="0" err="1"/>
              <a:t>nTranscribed</a:t>
            </a:r>
            <a:r>
              <a:rPr lang="en-IN" sz="1400" dirty="0"/>
              <a:t> Text: {transcription}")</a:t>
            </a:r>
          </a:p>
          <a:p>
            <a:r>
              <a:rPr lang="en-IN" sz="1400" dirty="0"/>
              <a:t>    # Plot spectrogram</a:t>
            </a:r>
          </a:p>
          <a:p>
            <a:r>
              <a:rPr lang="en-IN" sz="1400" dirty="0"/>
              <a:t>    </a:t>
            </a:r>
            <a:r>
              <a:rPr lang="en-IN" sz="1400" dirty="0" err="1"/>
              <a:t>plot_spectrogram</a:t>
            </a:r>
            <a:r>
              <a:rPr lang="en-IN" sz="1400" dirty="0"/>
              <a:t>(</a:t>
            </a:r>
            <a:r>
              <a:rPr lang="en-IN" sz="1400" dirty="0" err="1"/>
              <a:t>file_path</a:t>
            </a:r>
            <a:r>
              <a:rPr lang="en-IN" sz="1400" dirty="0"/>
              <a:t>)</a:t>
            </a:r>
          </a:p>
          <a:p>
            <a:endParaRPr lang="en-IN" sz="1400" dirty="0"/>
          </a:p>
        </p:txBody>
      </p:sp>
    </p:spTree>
    <p:extLst>
      <p:ext uri="{BB962C8B-B14F-4D97-AF65-F5344CB8AC3E}">
        <p14:creationId xmlns:p14="http://schemas.microsoft.com/office/powerpoint/2010/main" val="3868022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15AE0-4FE2-B9A6-EBEE-EFACA77B4F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D6D5C2-FBD2-C7DC-A85B-DE4ADCDF7582}"/>
              </a:ext>
            </a:extLst>
          </p:cNvPr>
          <p:cNvSpPr txBox="1"/>
          <p:nvPr/>
        </p:nvSpPr>
        <p:spPr>
          <a:xfrm>
            <a:off x="449736" y="111552"/>
            <a:ext cx="10495280" cy="2893100"/>
          </a:xfrm>
          <a:prstGeom prst="rect">
            <a:avLst/>
          </a:prstGeom>
          <a:noFill/>
        </p:spPr>
        <p:txBody>
          <a:bodyPr wrap="square" rtlCol="0">
            <a:spAutoFit/>
          </a:bodyPr>
          <a:lstStyle/>
          <a:p>
            <a:r>
              <a:rPr lang="en-IN" sz="1400" dirty="0"/>
              <a:t># </a:t>
            </a:r>
            <a:r>
              <a:rPr lang="en-IN" sz="1400" dirty="0" err="1"/>
              <a:t>Tkinter</a:t>
            </a:r>
            <a:r>
              <a:rPr lang="en-IN" sz="1400" dirty="0"/>
              <a:t> GUI</a:t>
            </a:r>
          </a:p>
          <a:p>
            <a:r>
              <a:rPr lang="en-IN" sz="1400" dirty="0"/>
              <a:t>root = Tk()</a:t>
            </a:r>
          </a:p>
          <a:p>
            <a:r>
              <a:rPr lang="en-IN" sz="1400" dirty="0" err="1"/>
              <a:t>root.title</a:t>
            </a:r>
            <a:r>
              <a:rPr lang="en-IN" sz="1400" dirty="0"/>
              <a:t>('Speech Emotion Recognition &amp; Speech-to-Text')</a:t>
            </a:r>
          </a:p>
          <a:p>
            <a:endParaRPr lang="en-IN" sz="1400" dirty="0"/>
          </a:p>
          <a:p>
            <a:r>
              <a:rPr lang="en-IN" sz="1400" dirty="0" err="1"/>
              <a:t>label_result</a:t>
            </a:r>
            <a:r>
              <a:rPr lang="en-IN" sz="1400" dirty="0"/>
              <a:t> = Label(root, text="Upload an audio file or use live voice input", font=("Helvetica", 16))</a:t>
            </a:r>
          </a:p>
          <a:p>
            <a:r>
              <a:rPr lang="en-IN" sz="1400" dirty="0" err="1"/>
              <a:t>label_result.pack</a:t>
            </a:r>
            <a:r>
              <a:rPr lang="en-IN" sz="1400" dirty="0"/>
              <a:t>()</a:t>
            </a:r>
          </a:p>
          <a:p>
            <a:endParaRPr lang="en-IN" sz="1400" dirty="0"/>
          </a:p>
          <a:p>
            <a:r>
              <a:rPr lang="en-IN" sz="1400" dirty="0" err="1"/>
              <a:t>btn_upload</a:t>
            </a:r>
            <a:r>
              <a:rPr lang="en-IN" sz="1400" dirty="0"/>
              <a:t> = Button(root, text="Upload Audio", command=</a:t>
            </a:r>
            <a:r>
              <a:rPr lang="en-IN" sz="1400" dirty="0" err="1"/>
              <a:t>load_model_and_predict</a:t>
            </a:r>
            <a:r>
              <a:rPr lang="en-IN" sz="1400" dirty="0"/>
              <a:t>)</a:t>
            </a:r>
          </a:p>
          <a:p>
            <a:r>
              <a:rPr lang="en-IN" sz="1400" dirty="0" err="1"/>
              <a:t>btn_upload.pack</a:t>
            </a:r>
            <a:r>
              <a:rPr lang="en-IN" sz="1400" dirty="0"/>
              <a:t>()</a:t>
            </a:r>
          </a:p>
          <a:p>
            <a:endParaRPr lang="en-IN" sz="1400" dirty="0"/>
          </a:p>
          <a:p>
            <a:r>
              <a:rPr lang="en-IN" sz="1400" dirty="0" err="1"/>
              <a:t>btn_live_voice</a:t>
            </a:r>
            <a:r>
              <a:rPr lang="en-IN" sz="1400" dirty="0"/>
              <a:t> = Button(root, text="Live Voice Input", command=</a:t>
            </a:r>
            <a:r>
              <a:rPr lang="en-IN" sz="1400" dirty="0" err="1"/>
              <a:t>predict_live_emotion</a:t>
            </a:r>
            <a:r>
              <a:rPr lang="en-IN" sz="1400" dirty="0"/>
              <a:t>)</a:t>
            </a:r>
          </a:p>
          <a:p>
            <a:r>
              <a:rPr lang="en-IN" sz="1400" dirty="0" err="1"/>
              <a:t>btn_live_voice.pack</a:t>
            </a:r>
            <a:r>
              <a:rPr lang="en-IN" sz="1400" dirty="0"/>
              <a:t>()</a:t>
            </a:r>
          </a:p>
          <a:p>
            <a:r>
              <a:rPr lang="en-IN" sz="1400" dirty="0" err="1"/>
              <a:t>root.mainloop</a:t>
            </a:r>
            <a:r>
              <a:rPr lang="en-IN" sz="1400" dirty="0"/>
              <a:t>()</a:t>
            </a:r>
          </a:p>
        </p:txBody>
      </p:sp>
    </p:spTree>
    <p:extLst>
      <p:ext uri="{BB962C8B-B14F-4D97-AF65-F5344CB8AC3E}">
        <p14:creationId xmlns:p14="http://schemas.microsoft.com/office/powerpoint/2010/main" val="3950593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B634B-1322-DFB3-2AE6-14ADD3BFF7BE}"/>
              </a:ext>
            </a:extLst>
          </p:cNvPr>
          <p:cNvSpPr>
            <a:spLocks noGrp="1"/>
          </p:cNvSpPr>
          <p:nvPr>
            <p:ph type="title"/>
          </p:nvPr>
        </p:nvSpPr>
        <p:spPr>
          <a:xfrm>
            <a:off x="241040" y="290480"/>
            <a:ext cx="10515600" cy="1325563"/>
          </a:xfrm>
        </p:spPr>
        <p:txBody>
          <a:bodyPr/>
          <a:lstStyle/>
          <a:p>
            <a:r>
              <a:rPr lang="en-US" sz="4400" b="1" dirty="0">
                <a:solidFill>
                  <a:srgbClr val="002060"/>
                </a:solidFill>
                <a:latin typeface="Times New Roman" panose="02020603050405020304" pitchFamily="18" charset="0"/>
                <a:cs typeface="Times New Roman" panose="02020603050405020304" pitchFamily="18" charset="0"/>
              </a:rPr>
              <a:t>Result :</a:t>
            </a:r>
            <a:br>
              <a:rPr lang="en-US" sz="4400"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3" name="Picture 2">
            <a:extLst>
              <a:ext uri="{FF2B5EF4-FFF2-40B4-BE49-F238E27FC236}">
                <a16:creationId xmlns:a16="http://schemas.microsoft.com/office/drawing/2014/main" id="{71303AC6-1184-61C5-5939-942666951726}"/>
              </a:ext>
            </a:extLst>
          </p:cNvPr>
          <p:cNvPicPr>
            <a:picLocks noChangeAspect="1"/>
          </p:cNvPicPr>
          <p:nvPr/>
        </p:nvPicPr>
        <p:blipFill>
          <a:blip r:embed="rId2"/>
          <a:stretch>
            <a:fillRect/>
          </a:stretch>
        </p:blipFill>
        <p:spPr>
          <a:xfrm>
            <a:off x="603346" y="1239013"/>
            <a:ext cx="4892385" cy="3239679"/>
          </a:xfrm>
          <a:prstGeom prst="rect">
            <a:avLst/>
          </a:prstGeom>
        </p:spPr>
      </p:pic>
      <p:pic>
        <p:nvPicPr>
          <p:cNvPr id="4" name="Picture 3">
            <a:extLst>
              <a:ext uri="{FF2B5EF4-FFF2-40B4-BE49-F238E27FC236}">
                <a16:creationId xmlns:a16="http://schemas.microsoft.com/office/drawing/2014/main" id="{B0297568-E474-DD91-2963-45A2A5317F3F}"/>
              </a:ext>
            </a:extLst>
          </p:cNvPr>
          <p:cNvPicPr>
            <a:picLocks noChangeAspect="1"/>
          </p:cNvPicPr>
          <p:nvPr/>
        </p:nvPicPr>
        <p:blipFill>
          <a:blip r:embed="rId3"/>
          <a:stretch>
            <a:fillRect/>
          </a:stretch>
        </p:blipFill>
        <p:spPr>
          <a:xfrm>
            <a:off x="6559421" y="1259632"/>
            <a:ext cx="5075852" cy="3452363"/>
          </a:xfrm>
          <a:prstGeom prst="rect">
            <a:avLst/>
          </a:prstGeom>
        </p:spPr>
      </p:pic>
      <p:sp>
        <p:nvSpPr>
          <p:cNvPr id="6" name="TextBox 5">
            <a:extLst>
              <a:ext uri="{FF2B5EF4-FFF2-40B4-BE49-F238E27FC236}">
                <a16:creationId xmlns:a16="http://schemas.microsoft.com/office/drawing/2014/main" id="{3B673384-306F-074C-CA0F-C18FB284E66B}"/>
              </a:ext>
            </a:extLst>
          </p:cNvPr>
          <p:cNvSpPr txBox="1"/>
          <p:nvPr/>
        </p:nvSpPr>
        <p:spPr>
          <a:xfrm>
            <a:off x="0" y="4513298"/>
            <a:ext cx="6102220" cy="369332"/>
          </a:xfrm>
          <a:prstGeom prst="rect">
            <a:avLst/>
          </a:prstGeom>
          <a:noFill/>
        </p:spPr>
        <p:txBody>
          <a:bodyPr wrap="square">
            <a:spAutoFit/>
          </a:bodyPr>
          <a:lstStyle/>
          <a:p>
            <a:pPr algn="ctr">
              <a:spcBef>
                <a:spcPts val="20"/>
              </a:spcBef>
            </a:pPr>
            <a:r>
              <a:rPr lang="en-US" sz="1800" b="1" i="1" dirty="0">
                <a:effectLst/>
                <a:latin typeface="Times New Roman" panose="02020603050405020304" pitchFamily="18" charset="0"/>
                <a:ea typeface="Times New Roman" panose="02020603050405020304" pitchFamily="18" charset="0"/>
              </a:rPr>
              <a:t>fig(1):  User Interface </a:t>
            </a:r>
            <a:endParaRPr lang="en-IN" sz="180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B4E1FE09-A11D-90C3-1C66-1ABA59B4447D}"/>
              </a:ext>
            </a:extLst>
          </p:cNvPr>
          <p:cNvSpPr txBox="1"/>
          <p:nvPr/>
        </p:nvSpPr>
        <p:spPr>
          <a:xfrm>
            <a:off x="6089780" y="4746563"/>
            <a:ext cx="6102220" cy="369332"/>
          </a:xfrm>
          <a:prstGeom prst="rect">
            <a:avLst/>
          </a:prstGeom>
          <a:noFill/>
        </p:spPr>
        <p:txBody>
          <a:bodyPr wrap="square">
            <a:spAutoFit/>
          </a:bodyPr>
          <a:lstStyle/>
          <a:p>
            <a:pPr algn="ctr">
              <a:spcBef>
                <a:spcPts val="20"/>
              </a:spcBef>
            </a:pPr>
            <a:r>
              <a:rPr lang="en-US" sz="1800" b="1" i="1" dirty="0">
                <a:effectLst/>
                <a:latin typeface="Times New Roman" panose="02020603050405020304" pitchFamily="18" charset="0"/>
                <a:ea typeface="Times New Roman" panose="02020603050405020304" pitchFamily="18" charset="0"/>
              </a:rPr>
              <a:t>fig(2): Uploading audio files</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29968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39A17-65EF-2E28-2207-203C40FFC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8C7CC-98A6-4985-E08F-F6D7D88B1AE2}"/>
              </a:ext>
            </a:extLst>
          </p:cNvPr>
          <p:cNvSpPr>
            <a:spLocks noGrp="1"/>
          </p:cNvSpPr>
          <p:nvPr>
            <p:ph type="title"/>
          </p:nvPr>
        </p:nvSpPr>
        <p:spPr>
          <a:xfrm>
            <a:off x="241040" y="290480"/>
            <a:ext cx="10515600" cy="1325563"/>
          </a:xfrm>
        </p:spPr>
        <p:txBody>
          <a:bodyPr/>
          <a:lstStyle/>
          <a:p>
            <a:r>
              <a:rPr lang="en-US" sz="4400" b="1" dirty="0">
                <a:solidFill>
                  <a:srgbClr val="002060"/>
                </a:solidFill>
                <a:latin typeface="Times New Roman" panose="02020603050405020304" pitchFamily="18" charset="0"/>
                <a:cs typeface="Times New Roman" panose="02020603050405020304" pitchFamily="18" charset="0"/>
              </a:rPr>
              <a:t>Result :</a:t>
            </a:r>
            <a:br>
              <a:rPr lang="en-US" sz="4400"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5" name="Picture 4">
            <a:extLst>
              <a:ext uri="{FF2B5EF4-FFF2-40B4-BE49-F238E27FC236}">
                <a16:creationId xmlns:a16="http://schemas.microsoft.com/office/drawing/2014/main" id="{401E4C99-DF45-AF4C-2C7A-81A9499A31C0}"/>
              </a:ext>
            </a:extLst>
          </p:cNvPr>
          <p:cNvPicPr>
            <a:picLocks noChangeAspect="1"/>
          </p:cNvPicPr>
          <p:nvPr/>
        </p:nvPicPr>
        <p:blipFill>
          <a:blip r:embed="rId2"/>
          <a:stretch>
            <a:fillRect/>
          </a:stretch>
        </p:blipFill>
        <p:spPr>
          <a:xfrm>
            <a:off x="368778" y="1184988"/>
            <a:ext cx="5383239" cy="2911151"/>
          </a:xfrm>
          <a:prstGeom prst="rect">
            <a:avLst/>
          </a:prstGeom>
        </p:spPr>
      </p:pic>
      <p:pic>
        <p:nvPicPr>
          <p:cNvPr id="9" name="Picture 8">
            <a:extLst>
              <a:ext uri="{FF2B5EF4-FFF2-40B4-BE49-F238E27FC236}">
                <a16:creationId xmlns:a16="http://schemas.microsoft.com/office/drawing/2014/main" id="{E30B56E7-745B-0FB3-B7E2-EB73EF808CD2}"/>
              </a:ext>
            </a:extLst>
          </p:cNvPr>
          <p:cNvPicPr>
            <a:picLocks noChangeAspect="1"/>
          </p:cNvPicPr>
          <p:nvPr/>
        </p:nvPicPr>
        <p:blipFill>
          <a:blip r:embed="rId3"/>
          <a:stretch>
            <a:fillRect/>
          </a:stretch>
        </p:blipFill>
        <p:spPr>
          <a:xfrm>
            <a:off x="6168067" y="1222310"/>
            <a:ext cx="5635157" cy="2901821"/>
          </a:xfrm>
          <a:prstGeom prst="rect">
            <a:avLst/>
          </a:prstGeom>
        </p:spPr>
      </p:pic>
      <p:sp>
        <p:nvSpPr>
          <p:cNvPr id="13" name="TextBox 12">
            <a:extLst>
              <a:ext uri="{FF2B5EF4-FFF2-40B4-BE49-F238E27FC236}">
                <a16:creationId xmlns:a16="http://schemas.microsoft.com/office/drawing/2014/main" id="{104713B5-6AA3-C263-57B1-C3F1D103FA05}"/>
              </a:ext>
            </a:extLst>
          </p:cNvPr>
          <p:cNvSpPr txBox="1"/>
          <p:nvPr/>
        </p:nvSpPr>
        <p:spPr>
          <a:xfrm>
            <a:off x="5812970" y="4205388"/>
            <a:ext cx="6102220" cy="369332"/>
          </a:xfrm>
          <a:prstGeom prst="rect">
            <a:avLst/>
          </a:prstGeom>
          <a:noFill/>
        </p:spPr>
        <p:txBody>
          <a:bodyPr wrap="square">
            <a:spAutoFit/>
          </a:bodyPr>
          <a:lstStyle/>
          <a:p>
            <a:pPr algn="ctr">
              <a:spcBef>
                <a:spcPts val="20"/>
              </a:spcBef>
            </a:pPr>
            <a:r>
              <a:rPr lang="en-US" sz="1800" b="1" i="1" dirty="0">
                <a:effectLst/>
                <a:latin typeface="Times New Roman" panose="02020603050405020304" pitchFamily="18" charset="0"/>
                <a:ea typeface="Times New Roman" panose="02020603050405020304" pitchFamily="18" charset="0"/>
              </a:rPr>
              <a:t>fig(4): Live voice input and result</a:t>
            </a:r>
            <a:endParaRPr lang="en-IN" sz="1800" dirty="0">
              <a:effectLst/>
              <a:latin typeface="Times New Roman" panose="02020603050405020304" pitchFamily="18" charset="0"/>
              <a:ea typeface="Times New Roman" panose="02020603050405020304" pitchFamily="18" charset="0"/>
            </a:endParaRPr>
          </a:p>
        </p:txBody>
      </p:sp>
      <p:sp>
        <p:nvSpPr>
          <p:cNvPr id="15" name="TextBox 14">
            <a:extLst>
              <a:ext uri="{FF2B5EF4-FFF2-40B4-BE49-F238E27FC236}">
                <a16:creationId xmlns:a16="http://schemas.microsoft.com/office/drawing/2014/main" id="{1F888C6A-C909-5B0E-C83F-91A703D78458}"/>
              </a:ext>
            </a:extLst>
          </p:cNvPr>
          <p:cNvSpPr txBox="1"/>
          <p:nvPr/>
        </p:nvSpPr>
        <p:spPr>
          <a:xfrm>
            <a:off x="121297" y="4224049"/>
            <a:ext cx="6102220" cy="369332"/>
          </a:xfrm>
          <a:prstGeom prst="rect">
            <a:avLst/>
          </a:prstGeom>
          <a:noFill/>
        </p:spPr>
        <p:txBody>
          <a:bodyPr wrap="square">
            <a:spAutoFit/>
          </a:bodyPr>
          <a:lstStyle/>
          <a:p>
            <a:pPr algn="ctr">
              <a:spcBef>
                <a:spcPts val="20"/>
              </a:spcBef>
            </a:pPr>
            <a:r>
              <a:rPr lang="en-US" sz="1800" b="1" i="1" dirty="0">
                <a:effectLst/>
                <a:latin typeface="Times New Roman" panose="02020603050405020304" pitchFamily="18" charset="0"/>
                <a:ea typeface="Times New Roman" panose="02020603050405020304" pitchFamily="18" charset="0"/>
              </a:rPr>
              <a:t>fig(3): Spectrogram for audio file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4024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EC78E-842F-61E5-6800-66E060F174A2}"/>
              </a:ext>
            </a:extLst>
          </p:cNvPr>
          <p:cNvSpPr>
            <a:spLocks noGrp="1"/>
          </p:cNvSpPr>
          <p:nvPr>
            <p:ph type="title"/>
          </p:nvPr>
        </p:nvSpPr>
        <p:spPr>
          <a:xfrm>
            <a:off x="838200" y="2766218"/>
            <a:ext cx="10515600" cy="1325563"/>
          </a:xfrm>
        </p:spPr>
        <p:txBody>
          <a:bodyPr>
            <a:normAutofit fontScale="90000"/>
          </a:bodyPr>
          <a:lstStyle/>
          <a:p>
            <a:pPr algn="ctr"/>
            <a:r>
              <a:rPr lang="en-IN" sz="6000" b="1" dirty="0">
                <a:solidFill>
                  <a:srgbClr val="002060"/>
                </a:solidFill>
              </a:rPr>
              <a:t>Thank you</a:t>
            </a:r>
            <a:br>
              <a:rPr lang="en-IN" sz="4400" dirty="0"/>
            </a:br>
            <a:endParaRPr lang="en-IN" dirty="0"/>
          </a:p>
        </p:txBody>
      </p:sp>
    </p:spTree>
    <p:extLst>
      <p:ext uri="{BB962C8B-B14F-4D97-AF65-F5344CB8AC3E}">
        <p14:creationId xmlns:p14="http://schemas.microsoft.com/office/powerpoint/2010/main" val="1105649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9025</TotalTime>
  <Words>4229</Words>
  <Application>Microsoft Office PowerPoint</Application>
  <PresentationFormat>Widescreen</PresentationFormat>
  <Paragraphs>347</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Speech Emotion Recognition</vt:lpstr>
      <vt:lpstr>PowerPoint Presentation</vt:lpstr>
      <vt:lpstr>1. Introduction</vt:lpstr>
      <vt:lpstr>1. Introduction</vt:lpstr>
      <vt:lpstr>2. Methodology  </vt:lpstr>
      <vt:lpstr>2. Methodology </vt:lpstr>
      <vt:lpstr>3. Technologies</vt:lpstr>
      <vt:lpstr>4. Requirements</vt:lpstr>
      <vt:lpstr>4. Requirements</vt:lpstr>
      <vt:lpstr>5. System Analysis</vt:lpstr>
      <vt:lpstr>5. System Analysis</vt:lpstr>
      <vt:lpstr>5. System Analysis</vt:lpstr>
      <vt:lpstr>5. System Analysis</vt:lpstr>
      <vt:lpstr>5. System Analysis</vt:lpstr>
      <vt:lpstr>5. System Analysis</vt:lpstr>
      <vt:lpstr>6.Architectural Design </vt:lpstr>
      <vt:lpstr>6.Project Architecture:   Architecture Diagram:   </vt:lpstr>
      <vt:lpstr>PowerPoint Presentation</vt:lpstr>
      <vt:lpstr>Use Case Diagram: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 : </vt:lpstr>
      <vt:lpstr>Result :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VAULT</dc:title>
  <dc:creator>MRUH</dc:creator>
  <cp:lastModifiedBy>linga navya sree</cp:lastModifiedBy>
  <cp:revision>42</cp:revision>
  <dcterms:created xsi:type="dcterms:W3CDTF">2024-02-28T18:45:54Z</dcterms:created>
  <dcterms:modified xsi:type="dcterms:W3CDTF">2024-10-27T17:25:57Z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c3bc96b50126489cac4635313cb49982</vt:lpwstr>
  </property>
</Properties>
</file>